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4" r:id="rId3"/>
    <p:sldId id="27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247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-137160"/>
            <a:ext cx="12188952" cy="6858000"/>
          </a:xfrm>
          <a:prstGeom prst="rect">
            <a:avLst/>
          </a:prstGeom>
          <a:solidFill>
            <a:srgbClr val="0A2647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1257300"/>
            <a:ext cx="1828800" cy="1783080"/>
          </a:xfrm>
          <a:prstGeom prst="rect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0" y="2788920"/>
            <a:ext cx="1828800" cy="502920"/>
          </a:xfrm>
          <a:prstGeom prst="ellipse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0" y="1005840"/>
            <a:ext cx="1828800" cy="502920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04120" y="3737153"/>
            <a:ext cx="1280160" cy="1212494"/>
          </a:xfrm>
          <a:prstGeom prst="rect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104120" y="4778654"/>
            <a:ext cx="1280160" cy="341986"/>
          </a:xfrm>
          <a:prstGeom prst="ellipse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104120" y="3566160"/>
            <a:ext cx="1280160" cy="341986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1470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ANALYTICS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1971904"/>
            <a:ext cx="836967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Revenue </a:t>
            </a:r>
            <a:b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&amp; Gap Analysis</a:t>
            </a:r>
          </a:p>
          <a:p>
            <a:pPr>
              <a:lnSpc>
                <a:spcPct val="105000"/>
              </a:lnSpc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SQL</a:t>
            </a:r>
          </a:p>
        </p:txBody>
      </p:sp>
      <p:sp>
        <p:nvSpPr>
          <p:cNvPr id="11" name="Text 9"/>
          <p:cNvSpPr/>
          <p:nvPr/>
        </p:nvSpPr>
        <p:spPr>
          <a:xfrm>
            <a:off x="822960" y="4412894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from 15 SQL-driven business tasks — margins, discounts, returns, logistics, and payment leakage.</a:t>
            </a:r>
            <a:endParaRPr lang="en-US" sz="1400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C2106FF3-1C8B-1FB8-25C0-69992B9A5623}"/>
              </a:ext>
            </a:extLst>
          </p:cNvPr>
          <p:cNvSpPr/>
          <p:nvPr/>
        </p:nvSpPr>
        <p:spPr>
          <a:xfrm>
            <a:off x="822960" y="5120640"/>
            <a:ext cx="25466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root_cause</a:t>
            </a:r>
            <a:endParaRPr lang="en-US" sz="115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marketplace_orders</a:t>
            </a:r>
            <a:endParaRPr lang="en-US" sz="115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 profit &lt; expected;</a:t>
            </a:r>
            <a:endParaRPr lang="en-US" sz="115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2">
            <a:extLst>
              <a:ext uri="{FF2B5EF4-FFF2-40B4-BE49-F238E27FC236}">
                <a16:creationId xmlns:a16="http://schemas.microsoft.com/office/drawing/2014/main" id="{3D2DF29E-7B9E-521B-BCFE-6E225699EF29}"/>
              </a:ext>
            </a:extLst>
          </p:cNvPr>
          <p:cNvSpPr/>
          <p:nvPr/>
        </p:nvSpPr>
        <p:spPr>
          <a:xfrm>
            <a:off x="3221801" y="249892"/>
            <a:ext cx="8813259" cy="649838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/>
        </p:spPr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2803BF41-8930-147F-FE3E-258F0A43FC6C}"/>
              </a:ext>
            </a:extLst>
          </p:cNvPr>
          <p:cNvSpPr/>
          <p:nvPr/>
        </p:nvSpPr>
        <p:spPr>
          <a:xfrm>
            <a:off x="3221801" y="208745"/>
            <a:ext cx="8813259" cy="394622"/>
          </a:xfrm>
          <a:prstGeom prst="roundRect">
            <a:avLst>
              <a:gd name="adj" fmla="val 23529"/>
            </a:avLst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C89DB35C-E82B-242B-31C4-8B908AC3084B}"/>
              </a:ext>
            </a:extLst>
          </p:cNvPr>
          <p:cNvSpPr/>
          <p:nvPr/>
        </p:nvSpPr>
        <p:spPr>
          <a:xfrm>
            <a:off x="3592876" y="208745"/>
            <a:ext cx="8205145" cy="394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EER Diagram — marketplace_schema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92F8D29-FE5C-04D3-80B5-04AD25BBA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876" y="717667"/>
            <a:ext cx="8187328" cy="5831948"/>
          </a:xfrm>
          <a:prstGeom prst="rect">
            <a:avLst/>
          </a:prstGeom>
        </p:spPr>
      </p:pic>
      <p:sp>
        <p:nvSpPr>
          <p:cNvPr id="35" name="Shape 2">
            <a:extLst>
              <a:ext uri="{FF2B5EF4-FFF2-40B4-BE49-F238E27FC236}">
                <a16:creationId xmlns:a16="http://schemas.microsoft.com/office/drawing/2014/main" id="{05AFE34A-70A8-B477-566D-F01DE8A9525B}"/>
              </a:ext>
            </a:extLst>
          </p:cNvPr>
          <p:cNvSpPr/>
          <p:nvPr/>
        </p:nvSpPr>
        <p:spPr>
          <a:xfrm>
            <a:off x="88782" y="850392"/>
            <a:ext cx="2947481" cy="5161302"/>
          </a:xfrm>
          <a:prstGeom prst="roundRect">
            <a:avLst>
              <a:gd name="adj" fmla="val 1778"/>
            </a:avLst>
          </a:prstGeom>
          <a:solidFill>
            <a:schemeClr val="bg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345123D4-8D4D-29C1-92C1-4F19C0ABC6EC}"/>
              </a:ext>
            </a:extLst>
          </p:cNvPr>
          <p:cNvSpPr/>
          <p:nvPr/>
        </p:nvSpPr>
        <p:spPr>
          <a:xfrm>
            <a:off x="363102" y="1106424"/>
            <a:ext cx="1796438" cy="328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 CORE TABLES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7A434BAC-A473-D1FE-0B6F-F297B72716C9}"/>
              </a:ext>
            </a:extLst>
          </p:cNvPr>
          <p:cNvSpPr/>
          <p:nvPr/>
        </p:nvSpPr>
        <p:spPr>
          <a:xfrm>
            <a:off x="363102" y="1591055"/>
            <a:ext cx="58950" cy="469209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93D02053-2466-862A-66CC-4BAEC443A5A6}"/>
              </a:ext>
            </a:extLst>
          </p:cNvPr>
          <p:cNvSpPr/>
          <p:nvPr/>
        </p:nvSpPr>
        <p:spPr>
          <a:xfrm>
            <a:off x="564270" y="1563623"/>
            <a:ext cx="2390735" cy="2627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300" dirty="0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4B398CDB-9F5C-13A6-C4AF-42C1E39B0F48}"/>
              </a:ext>
            </a:extLst>
          </p:cNvPr>
          <p:cNvSpPr/>
          <p:nvPr/>
        </p:nvSpPr>
        <p:spPr>
          <a:xfrm>
            <a:off x="564270" y="1810512"/>
            <a:ext cx="2390735" cy="328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Catalog: category, brand, cost, MRP, supplier</a:t>
            </a:r>
            <a:endParaRPr lang="en-US" sz="1050" dirty="0"/>
          </a:p>
        </p:txBody>
      </p:sp>
      <p:sp>
        <p:nvSpPr>
          <p:cNvPr id="45" name="Shape 7">
            <a:extLst>
              <a:ext uri="{FF2B5EF4-FFF2-40B4-BE49-F238E27FC236}">
                <a16:creationId xmlns:a16="http://schemas.microsoft.com/office/drawing/2014/main" id="{F37440CD-6FCC-C1BD-C4B3-A94B230E9E31}"/>
              </a:ext>
            </a:extLst>
          </p:cNvPr>
          <p:cNvSpPr/>
          <p:nvPr/>
        </p:nvSpPr>
        <p:spPr>
          <a:xfrm>
            <a:off x="363102" y="2304287"/>
            <a:ext cx="58950" cy="469209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D215AE02-5D99-EB37-01CB-F3E6AC7743DD}"/>
              </a:ext>
            </a:extLst>
          </p:cNvPr>
          <p:cNvSpPr/>
          <p:nvPr/>
        </p:nvSpPr>
        <p:spPr>
          <a:xfrm>
            <a:off x="564270" y="2276855"/>
            <a:ext cx="2390735" cy="2627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300" dirty="0"/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B9DF7AAE-C402-6C9C-D0CD-1DE9F78EA0E5}"/>
              </a:ext>
            </a:extLst>
          </p:cNvPr>
          <p:cNvSpPr/>
          <p:nvPr/>
        </p:nvSpPr>
        <p:spPr>
          <a:xfrm>
            <a:off x="564270" y="2523744"/>
            <a:ext cx="2390735" cy="328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header: customer, price, status, channel</a:t>
            </a:r>
            <a:endParaRPr lang="en-US" sz="1050" dirty="0"/>
          </a:p>
        </p:txBody>
      </p:sp>
      <p:sp>
        <p:nvSpPr>
          <p:cNvPr id="51" name="Shape 10">
            <a:extLst>
              <a:ext uri="{FF2B5EF4-FFF2-40B4-BE49-F238E27FC236}">
                <a16:creationId xmlns:a16="http://schemas.microsoft.com/office/drawing/2014/main" id="{DE775A19-2B46-694B-A55C-E2F68DEDEEF6}"/>
              </a:ext>
            </a:extLst>
          </p:cNvPr>
          <p:cNvSpPr/>
          <p:nvPr/>
        </p:nvSpPr>
        <p:spPr>
          <a:xfrm>
            <a:off x="363102" y="3017519"/>
            <a:ext cx="58950" cy="469209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3C65A142-576D-62E9-7EF1-8D3A1ADDA5F3}"/>
              </a:ext>
            </a:extLst>
          </p:cNvPr>
          <p:cNvSpPr/>
          <p:nvPr/>
        </p:nvSpPr>
        <p:spPr>
          <a:xfrm>
            <a:off x="564270" y="2990087"/>
            <a:ext cx="2390735" cy="2627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discounts</a:t>
            </a:r>
            <a:endParaRPr lang="en-US" sz="1300" dirty="0"/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286C65DC-C6CB-5C3F-062C-B15753379755}"/>
              </a:ext>
            </a:extLst>
          </p:cNvPr>
          <p:cNvSpPr/>
          <p:nvPr/>
        </p:nvSpPr>
        <p:spPr>
          <a:xfrm>
            <a:off x="564270" y="3236976"/>
            <a:ext cx="2390735" cy="328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amount, type &amp; coupon linked to order</a:t>
            </a:r>
            <a:endParaRPr lang="en-US" sz="1050" dirty="0"/>
          </a:p>
        </p:txBody>
      </p:sp>
      <p:sp>
        <p:nvSpPr>
          <p:cNvPr id="57" name="Shape 13">
            <a:extLst>
              <a:ext uri="{FF2B5EF4-FFF2-40B4-BE49-F238E27FC236}">
                <a16:creationId xmlns:a16="http://schemas.microsoft.com/office/drawing/2014/main" id="{9AE3E2E2-8EB3-0D43-3B9B-DAA1EABBC497}"/>
              </a:ext>
            </a:extLst>
          </p:cNvPr>
          <p:cNvSpPr/>
          <p:nvPr/>
        </p:nvSpPr>
        <p:spPr>
          <a:xfrm>
            <a:off x="363102" y="3730751"/>
            <a:ext cx="58950" cy="469209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59" name="Text 14">
            <a:extLst>
              <a:ext uri="{FF2B5EF4-FFF2-40B4-BE49-F238E27FC236}">
                <a16:creationId xmlns:a16="http://schemas.microsoft.com/office/drawing/2014/main" id="{75511F10-D2F9-E825-FA9E-E519038EEA01}"/>
              </a:ext>
            </a:extLst>
          </p:cNvPr>
          <p:cNvSpPr/>
          <p:nvPr/>
        </p:nvSpPr>
        <p:spPr>
          <a:xfrm>
            <a:off x="564270" y="3703319"/>
            <a:ext cx="2390735" cy="2627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</a:t>
            </a:r>
            <a:endParaRPr lang="en-US" sz="1300" dirty="0"/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B93B8419-F36D-15A1-0CA3-518D87300FD6}"/>
              </a:ext>
            </a:extLst>
          </p:cNvPr>
          <p:cNvSpPr/>
          <p:nvPr/>
        </p:nvSpPr>
        <p:spPr>
          <a:xfrm>
            <a:off x="564270" y="3950208"/>
            <a:ext cx="2390735" cy="328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flag, reason, refund mode &amp; status</a:t>
            </a:r>
            <a:endParaRPr lang="en-US" sz="1050" dirty="0"/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C76A11A7-803A-D1C7-115B-8BDCB95D7BC8}"/>
              </a:ext>
            </a:extLst>
          </p:cNvPr>
          <p:cNvSpPr/>
          <p:nvPr/>
        </p:nvSpPr>
        <p:spPr>
          <a:xfrm>
            <a:off x="363102" y="4443983"/>
            <a:ext cx="58950" cy="469209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1A860C8E-B4AC-D8C1-08C6-BDD54FDD5D7C}"/>
              </a:ext>
            </a:extLst>
          </p:cNvPr>
          <p:cNvSpPr/>
          <p:nvPr/>
        </p:nvSpPr>
        <p:spPr>
          <a:xfrm>
            <a:off x="564270" y="4416551"/>
            <a:ext cx="2390735" cy="2627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logistics_cost</a:t>
            </a:r>
            <a:endParaRPr lang="en-US" sz="1300" dirty="0"/>
          </a:p>
        </p:txBody>
      </p:sp>
      <p:sp>
        <p:nvSpPr>
          <p:cNvPr id="67" name="Text 18">
            <a:extLst>
              <a:ext uri="{FF2B5EF4-FFF2-40B4-BE49-F238E27FC236}">
                <a16:creationId xmlns:a16="http://schemas.microsoft.com/office/drawing/2014/main" id="{25B805B3-3F7E-9EAE-4FD6-D16B2F09D6DF}"/>
              </a:ext>
            </a:extLst>
          </p:cNvPr>
          <p:cNvSpPr/>
          <p:nvPr/>
        </p:nvSpPr>
        <p:spPr>
          <a:xfrm>
            <a:off x="564270" y="4663440"/>
            <a:ext cx="2390735" cy="328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Shipping, reverse-shipping cost &amp; delivery days</a:t>
            </a:r>
            <a:endParaRPr lang="en-US" sz="1050" dirty="0"/>
          </a:p>
        </p:txBody>
      </p:sp>
      <p:sp>
        <p:nvSpPr>
          <p:cNvPr id="69" name="Shape 19">
            <a:extLst>
              <a:ext uri="{FF2B5EF4-FFF2-40B4-BE49-F238E27FC236}">
                <a16:creationId xmlns:a16="http://schemas.microsoft.com/office/drawing/2014/main" id="{9B3B425C-F6FB-D68F-9AA4-F8AD7518326B}"/>
              </a:ext>
            </a:extLst>
          </p:cNvPr>
          <p:cNvSpPr/>
          <p:nvPr/>
        </p:nvSpPr>
        <p:spPr>
          <a:xfrm>
            <a:off x="363102" y="5157215"/>
            <a:ext cx="58950" cy="469209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74FF178A-570D-F50F-C470-2FADA5FA9F89}"/>
              </a:ext>
            </a:extLst>
          </p:cNvPr>
          <p:cNvSpPr/>
          <p:nvPr/>
        </p:nvSpPr>
        <p:spPr>
          <a:xfrm>
            <a:off x="564270" y="5129783"/>
            <a:ext cx="2390735" cy="2627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payment_fees</a:t>
            </a:r>
            <a:endParaRPr lang="en-US" sz="1300" dirty="0"/>
          </a:p>
        </p:txBody>
      </p:sp>
      <p:sp>
        <p:nvSpPr>
          <p:cNvPr id="73" name="Text 21">
            <a:extLst>
              <a:ext uri="{FF2B5EF4-FFF2-40B4-BE49-F238E27FC236}">
                <a16:creationId xmlns:a16="http://schemas.microsoft.com/office/drawing/2014/main" id="{FE2B3124-C99F-E17A-4C19-374F0CA97C1B}"/>
              </a:ext>
            </a:extLst>
          </p:cNvPr>
          <p:cNvSpPr/>
          <p:nvPr/>
        </p:nvSpPr>
        <p:spPr>
          <a:xfrm>
            <a:off x="564270" y="5376672"/>
            <a:ext cx="2390735" cy="328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% and settlement days per payment method</a:t>
            </a:r>
            <a:endParaRPr lang="en-US" sz="1050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D9940D5C-1D1C-5C61-8A53-4AB531F3A3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30493" y="1224143"/>
            <a:ext cx="836121" cy="836121"/>
          </a:xfrm>
          <a:prstGeom prst="rect">
            <a:avLst/>
          </a:prstGeom>
        </p:spPr>
      </p:pic>
      <p:sp>
        <p:nvSpPr>
          <p:cNvPr id="3" name="Text 11">
            <a:extLst>
              <a:ext uri="{FF2B5EF4-FFF2-40B4-BE49-F238E27FC236}">
                <a16:creationId xmlns:a16="http://schemas.microsoft.com/office/drawing/2014/main" id="{10CA2B1F-380F-C95D-8BD6-E9F168FF9B05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36667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68872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7" y="1143000"/>
            <a:ext cx="1670435" cy="0"/>
          </a:xfrm>
          <a:prstGeom prst="line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9144000" cy="365760"/>
          </a:xfrm>
          <a:prstGeom prst="rect">
            <a:avLst/>
          </a:prstGeom>
          <a:noFill/>
          <a:ln/>
          <a:effectLst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SQL analysis tasks, each paired with a clear recommended action.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936317" y="5579872"/>
            <a:ext cx="1615765" cy="868680"/>
          </a:xfrm>
          <a:prstGeom prst="rect">
            <a:avLst/>
          </a:prstGeom>
          <a:solidFill>
            <a:schemeClr val="bg1"/>
          </a:solidFill>
          <a:ln/>
          <a:effectLst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task, action</a:t>
            </a:r>
            <a:endParaRPr lang="en-US" sz="1000" b="1" dirty="0">
              <a:solidFill>
                <a:schemeClr val="accent1"/>
              </a:solidFill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agenda</a:t>
            </a:r>
            <a:endParaRPr lang="en-US" sz="1000" b="1" dirty="0">
              <a:solidFill>
                <a:schemeClr val="accent1"/>
              </a:solidFill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task_no;</a:t>
            </a:r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02336" cy="402336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188720" y="18013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Profit Reality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63724"/>
            <a:ext cx="402336" cy="402336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637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8720" y="233629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Sales &amp; Profit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98648"/>
            <a:ext cx="402336" cy="402336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986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88720" y="287121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 Products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33572"/>
            <a:ext cx="402336" cy="402336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335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88720" y="340614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Usage Overview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68496"/>
            <a:ext cx="402336" cy="402336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968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88720" y="394106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Popularity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503420"/>
            <a:ext cx="402336" cy="402336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5034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88720" y="44759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vs Profit Gap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038344"/>
            <a:ext cx="402336" cy="402336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0383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88720" y="501091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Impact on Revenue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573268"/>
            <a:ext cx="402336" cy="402336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5732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88720" y="554583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Reason Analysis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55920" y="1860296"/>
            <a:ext cx="402336" cy="402336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1" name="Text 29"/>
          <p:cNvSpPr/>
          <p:nvPr/>
        </p:nvSpPr>
        <p:spPr>
          <a:xfrm>
            <a:off x="5455920" y="18602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6096000" y="183286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Cost Burden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55920" y="2395220"/>
            <a:ext cx="402336" cy="402336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4" name="Text 32"/>
          <p:cNvSpPr/>
          <p:nvPr/>
        </p:nvSpPr>
        <p:spPr>
          <a:xfrm>
            <a:off x="5455920" y="2395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6096000" y="23677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Fee Leakage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55920" y="2930144"/>
            <a:ext cx="402336" cy="402336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7" name="Text 35"/>
          <p:cNvSpPr/>
          <p:nvPr/>
        </p:nvSpPr>
        <p:spPr>
          <a:xfrm>
            <a:off x="5455920" y="29301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6096000" y="290271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Breakdown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455920" y="3465068"/>
            <a:ext cx="402336" cy="402336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40" name="Text 38"/>
          <p:cNvSpPr/>
          <p:nvPr/>
        </p:nvSpPr>
        <p:spPr>
          <a:xfrm>
            <a:off x="5455920" y="3465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6096000" y="343763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Profit Ranking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55920" y="3999992"/>
            <a:ext cx="402336" cy="402336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43" name="Text 41"/>
          <p:cNvSpPr/>
          <p:nvPr/>
        </p:nvSpPr>
        <p:spPr>
          <a:xfrm>
            <a:off x="5455920" y="3999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6096000" y="39725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Margin Stability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55920" y="4534916"/>
            <a:ext cx="402336" cy="402336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46" name="Text 44"/>
          <p:cNvSpPr/>
          <p:nvPr/>
        </p:nvSpPr>
        <p:spPr>
          <a:xfrm>
            <a:off x="5455920" y="4534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6096000" y="450748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Customers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455920" y="5069840"/>
            <a:ext cx="402336" cy="402336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49" name="Text 47"/>
          <p:cNvSpPr/>
          <p:nvPr/>
        </p:nvSpPr>
        <p:spPr>
          <a:xfrm>
            <a:off x="5455920" y="5069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6096000" y="504240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Profitability Summary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48640" y="65288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Analytics  | Tasks</a:t>
            </a:r>
            <a:endParaRPr lang="en-US" sz="800" dirty="0"/>
          </a:p>
        </p:txBody>
      </p:sp>
      <p:sp>
        <p:nvSpPr>
          <p:cNvPr id="71" name="Shape 1">
            <a:extLst>
              <a:ext uri="{FF2B5EF4-FFF2-40B4-BE49-F238E27FC236}">
                <a16:creationId xmlns:a16="http://schemas.microsoft.com/office/drawing/2014/main" id="{9C598E1C-4E4C-D540-6537-279333846595}"/>
              </a:ext>
            </a:extLst>
          </p:cNvPr>
          <p:cNvSpPr/>
          <p:nvPr/>
        </p:nvSpPr>
        <p:spPr>
          <a:xfrm>
            <a:off x="9601200" y="1257300"/>
            <a:ext cx="1828800" cy="1783080"/>
          </a:xfrm>
          <a:prstGeom prst="rect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73" name="Shape 2">
            <a:extLst>
              <a:ext uri="{FF2B5EF4-FFF2-40B4-BE49-F238E27FC236}">
                <a16:creationId xmlns:a16="http://schemas.microsoft.com/office/drawing/2014/main" id="{64F99FA5-B8C5-3079-3F2A-37C16CA36FF9}"/>
              </a:ext>
            </a:extLst>
          </p:cNvPr>
          <p:cNvSpPr/>
          <p:nvPr/>
        </p:nvSpPr>
        <p:spPr>
          <a:xfrm>
            <a:off x="9601200" y="2788920"/>
            <a:ext cx="1828800" cy="502920"/>
          </a:xfrm>
          <a:prstGeom prst="ellipse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75" name="Shape 3">
            <a:extLst>
              <a:ext uri="{FF2B5EF4-FFF2-40B4-BE49-F238E27FC236}">
                <a16:creationId xmlns:a16="http://schemas.microsoft.com/office/drawing/2014/main" id="{6DF88A29-D75B-6B04-B9E9-988BFE1D9225}"/>
              </a:ext>
            </a:extLst>
          </p:cNvPr>
          <p:cNvSpPr/>
          <p:nvPr/>
        </p:nvSpPr>
        <p:spPr>
          <a:xfrm>
            <a:off x="9601200" y="1005840"/>
            <a:ext cx="1828800" cy="502920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77" name="Shape 4">
            <a:extLst>
              <a:ext uri="{FF2B5EF4-FFF2-40B4-BE49-F238E27FC236}">
                <a16:creationId xmlns:a16="http://schemas.microsoft.com/office/drawing/2014/main" id="{71CFDC42-5853-1165-F964-FE3FDDA4670E}"/>
              </a:ext>
            </a:extLst>
          </p:cNvPr>
          <p:cNvSpPr/>
          <p:nvPr/>
        </p:nvSpPr>
        <p:spPr>
          <a:xfrm>
            <a:off x="10104120" y="3737153"/>
            <a:ext cx="1280160" cy="1212494"/>
          </a:xfrm>
          <a:prstGeom prst="rect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79" name="Shape 5">
            <a:extLst>
              <a:ext uri="{FF2B5EF4-FFF2-40B4-BE49-F238E27FC236}">
                <a16:creationId xmlns:a16="http://schemas.microsoft.com/office/drawing/2014/main" id="{71D9ED7E-E8CD-1590-0256-06158BCD8C6B}"/>
              </a:ext>
            </a:extLst>
          </p:cNvPr>
          <p:cNvSpPr/>
          <p:nvPr/>
        </p:nvSpPr>
        <p:spPr>
          <a:xfrm>
            <a:off x="10104120" y="4778654"/>
            <a:ext cx="1280160" cy="341986"/>
          </a:xfrm>
          <a:prstGeom prst="ellipse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81" name="Shape 6">
            <a:extLst>
              <a:ext uri="{FF2B5EF4-FFF2-40B4-BE49-F238E27FC236}">
                <a16:creationId xmlns:a16="http://schemas.microsoft.com/office/drawing/2014/main" id="{1ED7613E-FD16-50BC-3841-79CD07800471}"/>
              </a:ext>
            </a:extLst>
          </p:cNvPr>
          <p:cNvSpPr/>
          <p:nvPr/>
        </p:nvSpPr>
        <p:spPr>
          <a:xfrm>
            <a:off x="10104120" y="3566160"/>
            <a:ext cx="1280160" cy="341986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10C16483-CF06-0A62-0894-41DE018EACC5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52745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27065"/>
            <a:ext cx="41342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u="sng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vs Profit Reality</a:t>
            </a:r>
            <a:endParaRPr lang="en-US" sz="2700" u="sng" dirty="0"/>
          </a:p>
        </p:txBody>
      </p:sp>
      <p:sp>
        <p:nvSpPr>
          <p:cNvPr id="9" name="Shape 7"/>
          <p:cNvSpPr/>
          <p:nvPr/>
        </p:nvSpPr>
        <p:spPr>
          <a:xfrm>
            <a:off x="457200" y="2935309"/>
            <a:ext cx="8161506" cy="2860203"/>
          </a:xfrm>
          <a:prstGeom prst="roundRect">
            <a:avLst>
              <a:gd name="adj" fmla="val 1758"/>
            </a:avLst>
          </a:prstGeom>
          <a:solidFill>
            <a:srgbClr val="E9F0F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412961"/>
            <a:ext cx="206323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u="sng" kern="0" spc="100" dirty="0">
                <a:solidFill>
                  <a:srgbClr val="144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00" u="sng" dirty="0"/>
          </a:p>
        </p:txBody>
      </p:sp>
      <p:sp>
        <p:nvSpPr>
          <p:cNvPr id="11" name="Text 9"/>
          <p:cNvSpPr/>
          <p:nvPr/>
        </p:nvSpPr>
        <p:spPr>
          <a:xfrm>
            <a:off x="786384" y="3912172"/>
            <a:ext cx="5355336" cy="16539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4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53.7%</a:t>
            </a:r>
            <a:r>
              <a:rPr lang="en-US" sz="140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gross margin as the benchmark for tracking profit health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Closely monitor discounts, returns, logistics, and payment fees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gap between gross margin and actual net profit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where money is being lost and take corrective action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Analytics  |  PROFITABILITY RECOMMENDATIONS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BFCED40-6997-AE6A-4DF5-A42429FFB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4225"/>
            <a:ext cx="6859728" cy="1400852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8F520740-A338-74E9-2537-69BE8E2BBBE0}"/>
              </a:ext>
            </a:extLst>
          </p:cNvPr>
          <p:cNvSpPr/>
          <p:nvPr/>
        </p:nvSpPr>
        <p:spPr>
          <a:xfrm>
            <a:off x="9601200" y="1257300"/>
            <a:ext cx="1828800" cy="1783080"/>
          </a:xfrm>
          <a:prstGeom prst="rect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5785B987-03F7-D44F-9F1B-037C5243DDB1}"/>
              </a:ext>
            </a:extLst>
          </p:cNvPr>
          <p:cNvSpPr/>
          <p:nvPr/>
        </p:nvSpPr>
        <p:spPr>
          <a:xfrm>
            <a:off x="9601200" y="2788920"/>
            <a:ext cx="1828800" cy="502920"/>
          </a:xfrm>
          <a:prstGeom prst="ellipse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884E40CF-696B-B6BB-C4A0-3FF234A45C1F}"/>
              </a:ext>
            </a:extLst>
          </p:cNvPr>
          <p:cNvSpPr/>
          <p:nvPr/>
        </p:nvSpPr>
        <p:spPr>
          <a:xfrm>
            <a:off x="9601200" y="1005840"/>
            <a:ext cx="1828800" cy="502920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4E0574C9-99C2-4836-1ABE-E468341F9056}"/>
              </a:ext>
            </a:extLst>
          </p:cNvPr>
          <p:cNvSpPr/>
          <p:nvPr/>
        </p:nvSpPr>
        <p:spPr>
          <a:xfrm>
            <a:off x="10104120" y="3737153"/>
            <a:ext cx="1280160" cy="1212494"/>
          </a:xfrm>
          <a:prstGeom prst="rect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66E206BC-FB98-67DF-AF05-681CE507C6FE}"/>
              </a:ext>
            </a:extLst>
          </p:cNvPr>
          <p:cNvSpPr/>
          <p:nvPr/>
        </p:nvSpPr>
        <p:spPr>
          <a:xfrm>
            <a:off x="10104120" y="4778654"/>
            <a:ext cx="1280160" cy="341986"/>
          </a:xfrm>
          <a:prstGeom prst="ellipse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864FAA01-EBEF-3513-06D5-FFF1E377C937}"/>
              </a:ext>
            </a:extLst>
          </p:cNvPr>
          <p:cNvSpPr/>
          <p:nvPr/>
        </p:nvSpPr>
        <p:spPr>
          <a:xfrm>
            <a:off x="10104120" y="3566160"/>
            <a:ext cx="1280160" cy="341986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21539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0569"/>
            <a:ext cx="4643012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u="sng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Category-wise Sales &amp; Profit</a:t>
            </a:r>
            <a:endParaRPr lang="en-US" sz="2700" u="sng" dirty="0"/>
          </a:p>
        </p:txBody>
      </p:sp>
      <p:sp>
        <p:nvSpPr>
          <p:cNvPr id="7" name="Text 5"/>
          <p:cNvSpPr/>
          <p:nvPr/>
        </p:nvSpPr>
        <p:spPr>
          <a:xfrm>
            <a:off x="6900921" y="210312"/>
            <a:ext cx="2560320" cy="111373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2977456"/>
            <a:ext cx="8143240" cy="3500559"/>
          </a:xfrm>
          <a:prstGeom prst="roundRect">
            <a:avLst>
              <a:gd name="adj" fmla="val 1758"/>
            </a:avLst>
          </a:prstGeom>
          <a:solidFill>
            <a:srgbClr val="E9F0F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" y="3052217"/>
            <a:ext cx="7205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u="sng" kern="0" spc="100" dirty="0">
                <a:solidFill>
                  <a:srgbClr val="144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00" u="sng" dirty="0"/>
          </a:p>
        </p:txBody>
      </p:sp>
      <p:sp>
        <p:nvSpPr>
          <p:cNvPr id="11" name="Text 9"/>
          <p:cNvSpPr/>
          <p:nvPr/>
        </p:nvSpPr>
        <p:spPr>
          <a:xfrm>
            <a:off x="822960" y="3370447"/>
            <a:ext cx="7452360" cy="299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Electronics sells the most, but its profit margin is just average (53.5%) </a:t>
            </a:r>
            <a:br>
              <a:rPr lang="en-IN" sz="1400" b="1" dirty="0"/>
            </a:br>
            <a:r>
              <a:rPr lang="en-IN" sz="1400" dirty="0"/>
              <a:t>so we should keep investing in it mainly for its sales volume, not because it's the most efficient category.</a:t>
            </a:r>
            <a:br>
              <a:rPr lang="en-IN" sz="1400" dirty="0"/>
            </a:b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Home is our best all-round category </a:t>
            </a:r>
            <a:br>
              <a:rPr lang="en-IN" sz="1400" b="1" dirty="0"/>
            </a:br>
            <a:r>
              <a:rPr lang="en-IN" sz="1400" dirty="0"/>
              <a:t>it has strong sales </a:t>
            </a:r>
            <a:r>
              <a:rPr lang="en-IN" sz="1400" i="1" dirty="0"/>
              <a:t>and</a:t>
            </a:r>
            <a:r>
              <a:rPr lang="en-IN" sz="1400" dirty="0"/>
              <a:t> a high margin </a:t>
            </a:r>
            <a:r>
              <a:rPr lang="en-IN" sz="1400" b="1" dirty="0"/>
              <a:t>(55.4%), </a:t>
            </a:r>
            <a:r>
              <a:rPr lang="en-IN" sz="1400" dirty="0"/>
              <a:t>making it worth backing on both fronts.</a:t>
            </a:r>
            <a:br>
              <a:rPr lang="en-IN" sz="1400" dirty="0"/>
            </a:b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Beauty needs attention </a:t>
            </a:r>
            <a:br>
              <a:rPr lang="en-IN" sz="1400" b="1" dirty="0"/>
            </a:br>
            <a:r>
              <a:rPr lang="en-IN" sz="1400" dirty="0"/>
              <a:t>it has the lowest margin </a:t>
            </a:r>
            <a:r>
              <a:rPr lang="en-IN" sz="1400" b="1" dirty="0"/>
              <a:t>(51.9%)</a:t>
            </a:r>
            <a:r>
              <a:rPr lang="en-IN" sz="1400" dirty="0"/>
              <a:t> of all categories, so there's real room to fix pricing or costs here.</a:t>
            </a:r>
            <a:br>
              <a:rPr lang="en-IN" sz="1400" dirty="0"/>
            </a:b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"UNKNOWN" needs a different fix  </a:t>
            </a:r>
            <a:br>
              <a:rPr lang="en-IN" sz="1400" b="1" dirty="0"/>
            </a:br>
            <a:r>
              <a:rPr lang="en-IN" sz="1400" dirty="0"/>
              <a:t>its margin is actually healthy </a:t>
            </a:r>
            <a:r>
              <a:rPr lang="en-IN" sz="1400" b="1" dirty="0"/>
              <a:t>(54.2%)</a:t>
            </a:r>
            <a:r>
              <a:rPr lang="en-IN" sz="1400" dirty="0"/>
              <a:t>, it just looks weak because products aren't tagged to a real category. This is a data-labelling fix, not a pricing problem.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Analytics  |  Category Recommendations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4FB28A-F289-B688-FCAD-274FA858A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03744"/>
            <a:ext cx="5491480" cy="1900560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C14D176F-6161-03FC-4700-F025053AFED6}"/>
              </a:ext>
            </a:extLst>
          </p:cNvPr>
          <p:cNvSpPr/>
          <p:nvPr/>
        </p:nvSpPr>
        <p:spPr>
          <a:xfrm>
            <a:off x="9601200" y="1257300"/>
            <a:ext cx="1828800" cy="1783080"/>
          </a:xfrm>
          <a:prstGeom prst="rect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9F34B7CC-CA9F-8967-CD65-006206103466}"/>
              </a:ext>
            </a:extLst>
          </p:cNvPr>
          <p:cNvSpPr/>
          <p:nvPr/>
        </p:nvSpPr>
        <p:spPr>
          <a:xfrm>
            <a:off x="9601200" y="2788920"/>
            <a:ext cx="1828800" cy="502920"/>
          </a:xfrm>
          <a:prstGeom prst="ellipse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6B3E396A-F37C-6127-2864-9407B44AD8CD}"/>
              </a:ext>
            </a:extLst>
          </p:cNvPr>
          <p:cNvSpPr/>
          <p:nvPr/>
        </p:nvSpPr>
        <p:spPr>
          <a:xfrm>
            <a:off x="9601200" y="1005840"/>
            <a:ext cx="1828800" cy="502920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3B172DC2-F7A7-2DA8-0229-1D9ABD309052}"/>
              </a:ext>
            </a:extLst>
          </p:cNvPr>
          <p:cNvSpPr/>
          <p:nvPr/>
        </p:nvSpPr>
        <p:spPr>
          <a:xfrm>
            <a:off x="10104120" y="3737153"/>
            <a:ext cx="1280160" cy="1212494"/>
          </a:xfrm>
          <a:prstGeom prst="rect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8E5B360D-F890-C19B-2F75-F9E283FE1386}"/>
              </a:ext>
            </a:extLst>
          </p:cNvPr>
          <p:cNvSpPr/>
          <p:nvPr/>
        </p:nvSpPr>
        <p:spPr>
          <a:xfrm>
            <a:off x="10104120" y="4778654"/>
            <a:ext cx="1280160" cy="341986"/>
          </a:xfrm>
          <a:prstGeom prst="ellipse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2DCBB069-42BA-C220-F3D6-1DC756E67AF8}"/>
              </a:ext>
            </a:extLst>
          </p:cNvPr>
          <p:cNvSpPr/>
          <p:nvPr/>
        </p:nvSpPr>
        <p:spPr>
          <a:xfrm>
            <a:off x="10104120" y="3566160"/>
            <a:ext cx="1280160" cy="341986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228601"/>
            <a:ext cx="17012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02921"/>
            <a:ext cx="36576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u="sng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Loss-Making Products</a:t>
            </a:r>
            <a:endParaRPr lang="en-US" sz="2700" u="sng" dirty="0"/>
          </a:p>
        </p:txBody>
      </p:sp>
      <p:sp>
        <p:nvSpPr>
          <p:cNvPr id="9" name="Shape 7"/>
          <p:cNvSpPr/>
          <p:nvPr/>
        </p:nvSpPr>
        <p:spPr>
          <a:xfrm>
            <a:off x="502920" y="3148746"/>
            <a:ext cx="8295640" cy="3325206"/>
          </a:xfrm>
          <a:prstGeom prst="roundRect">
            <a:avLst>
              <a:gd name="adj" fmla="val 1758"/>
            </a:avLst>
          </a:prstGeom>
          <a:solidFill>
            <a:srgbClr val="E9F0F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3844" y="3215230"/>
            <a:ext cx="7205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u="sng" kern="0" spc="100" dirty="0">
                <a:solidFill>
                  <a:srgbClr val="144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00" u="sng" dirty="0"/>
          </a:p>
        </p:txBody>
      </p:sp>
      <p:sp>
        <p:nvSpPr>
          <p:cNvPr id="11" name="Text 9"/>
          <p:cNvSpPr/>
          <p:nvPr/>
        </p:nvSpPr>
        <p:spPr>
          <a:xfrm>
            <a:off x="783844" y="3503150"/>
            <a:ext cx="7205472" cy="28498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Start with the worst 10 products. </a:t>
            </a:r>
            <a:br>
              <a:rPr lang="en-IN" sz="1400" b="1" dirty="0"/>
            </a:br>
            <a:r>
              <a:rPr lang="en-IN" sz="1400" dirty="0"/>
              <a:t>They alone cause almost half of the total loss </a:t>
            </a:r>
            <a:r>
              <a:rPr lang="en-IN" sz="1400" b="1" dirty="0"/>
              <a:t>(45.4%,  ₹53,417)</a:t>
            </a:r>
            <a:r>
              <a:rPr lang="en-IN" sz="1400" dirty="0"/>
              <a:t>. Fixing just these gives us the biggest improvement for the least effort.</a:t>
            </a:r>
            <a:br>
              <a:rPr lang="en-IN" sz="1400" dirty="0"/>
            </a:b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Look closely at the Fashion category</a:t>
            </a:r>
            <a:r>
              <a:rPr lang="en-IN" sz="1400" dirty="0"/>
              <a:t>.</a:t>
            </a:r>
            <a:br>
              <a:rPr lang="en-IN" sz="1400" dirty="0"/>
            </a:br>
            <a:r>
              <a:rPr lang="en-IN" sz="1400" dirty="0"/>
              <a:t>It has the most loss-making products, so review their pricing and supplier costs to identify the main causes.</a:t>
            </a:r>
            <a:br>
              <a:rPr lang="en-IN" sz="1400" dirty="0"/>
            </a:b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For every loss-making product, do one of three things</a:t>
            </a:r>
            <a:br>
              <a:rPr lang="en-IN" sz="1400" dirty="0"/>
            </a:br>
            <a:r>
              <a:rPr lang="en-IN" sz="1400" dirty="0"/>
              <a:t>Raise the price, negotiate a better deal with the supplier, or stop selling it if nothing works.</a:t>
            </a:r>
            <a:br>
              <a:rPr lang="en-IN" sz="1400" dirty="0"/>
            </a:b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This isn't a big problem today </a:t>
            </a:r>
            <a:r>
              <a:rPr lang="en-IN" sz="1400" dirty="0"/>
              <a:t>(under </a:t>
            </a:r>
            <a:r>
              <a:rPr lang="en-IN" sz="1400" b="1" dirty="0"/>
              <a:t>0.5%</a:t>
            </a:r>
            <a:r>
              <a:rPr lang="en-IN" sz="1400" dirty="0"/>
              <a:t> of total profit), but it can grow if ignored. So, we'll check this list every 3 months to catch new problem products early.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Analytics  | Loss-Making  Recommendations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C0372DE-4AF6-2D88-116A-FC5949EB8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69849"/>
            <a:ext cx="5468621" cy="1960025"/>
          </a:xfrm>
          <a:prstGeom prst="rect">
            <a:avLst/>
          </a:prstGeom>
          <a:effectLst>
            <a:outerShdw blurRad="76200" dir="18900000" sy="23000" kx="-1200000" algn="bl" rotWithShape="0">
              <a:srgbClr val="002060">
                <a:alpha val="20000"/>
              </a:srgbClr>
            </a:outerShdw>
          </a:effectLst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95E8BDBF-7ACC-5A5C-4AE0-3C791DC7351F}"/>
              </a:ext>
            </a:extLst>
          </p:cNvPr>
          <p:cNvSpPr/>
          <p:nvPr/>
        </p:nvSpPr>
        <p:spPr>
          <a:xfrm>
            <a:off x="9601200" y="1257300"/>
            <a:ext cx="1828800" cy="1783080"/>
          </a:xfrm>
          <a:prstGeom prst="rect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C8A07D80-7955-9DFA-7AEE-F195DF5E5B7C}"/>
              </a:ext>
            </a:extLst>
          </p:cNvPr>
          <p:cNvSpPr/>
          <p:nvPr/>
        </p:nvSpPr>
        <p:spPr>
          <a:xfrm>
            <a:off x="9601200" y="2788920"/>
            <a:ext cx="1828800" cy="502920"/>
          </a:xfrm>
          <a:prstGeom prst="ellipse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E1B0DC38-5A01-9E5D-0497-E71EA9865947}"/>
              </a:ext>
            </a:extLst>
          </p:cNvPr>
          <p:cNvSpPr/>
          <p:nvPr/>
        </p:nvSpPr>
        <p:spPr>
          <a:xfrm>
            <a:off x="9601200" y="1005840"/>
            <a:ext cx="1828800" cy="502920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FDFE6298-9957-2B3E-2DF3-BAB731B341CE}"/>
              </a:ext>
            </a:extLst>
          </p:cNvPr>
          <p:cNvSpPr/>
          <p:nvPr/>
        </p:nvSpPr>
        <p:spPr>
          <a:xfrm>
            <a:off x="10104120" y="3737153"/>
            <a:ext cx="1280160" cy="1212494"/>
          </a:xfrm>
          <a:prstGeom prst="rect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99BC3E33-B0FC-4578-7D24-F10F77034185}"/>
              </a:ext>
            </a:extLst>
          </p:cNvPr>
          <p:cNvSpPr/>
          <p:nvPr/>
        </p:nvSpPr>
        <p:spPr>
          <a:xfrm>
            <a:off x="10104120" y="4778654"/>
            <a:ext cx="1280160" cy="341986"/>
          </a:xfrm>
          <a:prstGeom prst="ellipse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3DA4F721-E830-DEAF-E1D5-51FEE11C2290}"/>
              </a:ext>
            </a:extLst>
          </p:cNvPr>
          <p:cNvSpPr/>
          <p:nvPr/>
        </p:nvSpPr>
        <p:spPr>
          <a:xfrm>
            <a:off x="10104120" y="3566160"/>
            <a:ext cx="1280160" cy="341986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426212"/>
            <a:ext cx="2001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00532"/>
            <a:ext cx="4302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u="sng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Usage Overview</a:t>
            </a:r>
            <a:endParaRPr lang="en-US" sz="2700" u="sng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8153400" cy="3129280"/>
          </a:xfrm>
          <a:prstGeom prst="roundRect">
            <a:avLst>
              <a:gd name="adj" fmla="val 1758"/>
            </a:avLst>
          </a:prstGeom>
          <a:solidFill>
            <a:srgbClr val="E9F0F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" y="3039110"/>
            <a:ext cx="7205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u="sng" kern="0" spc="100" dirty="0">
                <a:solidFill>
                  <a:srgbClr val="144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00" u="sng" dirty="0"/>
          </a:p>
        </p:txBody>
      </p:sp>
      <p:sp>
        <p:nvSpPr>
          <p:cNvPr id="11" name="Text 9"/>
          <p:cNvSpPr/>
          <p:nvPr/>
        </p:nvSpPr>
        <p:spPr>
          <a:xfrm>
            <a:off x="786384" y="3477006"/>
            <a:ext cx="7205472" cy="21633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Don't judge discount cost by its share of revenue</a:t>
            </a:r>
            <a:r>
              <a:rPr lang="en-IN" sz="1400" b="1" dirty="0"/>
              <a:t> (9%),</a:t>
            </a:r>
            <a:br>
              <a:rPr lang="en-IN" sz="1400" b="1" dirty="0"/>
            </a:br>
            <a:r>
              <a:rPr lang="en-IN" sz="1400" dirty="0"/>
              <a:t>judge it by its share of profit</a:t>
            </a:r>
            <a:r>
              <a:rPr lang="en-IN" sz="1400" b="1" dirty="0"/>
              <a:t> (17%)</a:t>
            </a:r>
            <a:r>
              <a:rPr lang="en-IN" sz="1400" dirty="0"/>
              <a:t>. it reframes the conversation from "manageable" to "material." and shows the problem is bigger than it first appears.</a:t>
            </a:r>
            <a:br>
              <a:rPr lang="en-IN" sz="1400" dirty="0"/>
            </a:b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Check if the</a:t>
            </a:r>
            <a:r>
              <a:rPr lang="en-IN" sz="1400" b="1" dirty="0"/>
              <a:t> ₹775 </a:t>
            </a:r>
            <a:r>
              <a:rPr lang="en-IN" sz="1400" dirty="0"/>
              <a:t>average discount is spread evenly or driven by a few large discounts</a:t>
            </a:r>
            <a:r>
              <a:rPr lang="en-IN" sz="1400" b="1" dirty="0"/>
              <a:t> </a:t>
            </a:r>
            <a:r>
              <a:rPr lang="en-IN" sz="1400" dirty="0"/>
              <a:t>(worth a quick distribution check) This tells us if we need a discount approval limit.</a:t>
            </a:r>
            <a:br>
              <a:rPr lang="en-IN" sz="1400" dirty="0"/>
            </a:b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Track “discount as % of gross profit” every month. This shows how much of our gross profit is being given up through discounts.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Analytics  | Discount  Recommendations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BD5BDF-FF61-7E01-39EC-66169FC3F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16608"/>
            <a:ext cx="6825561" cy="1326770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B7327453-A0F4-8024-E179-5DC11D2C2C98}"/>
              </a:ext>
            </a:extLst>
          </p:cNvPr>
          <p:cNvSpPr/>
          <p:nvPr/>
        </p:nvSpPr>
        <p:spPr>
          <a:xfrm>
            <a:off x="9601200" y="1257300"/>
            <a:ext cx="1828800" cy="1783080"/>
          </a:xfrm>
          <a:prstGeom prst="rect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C6F1C21B-1D03-6508-F62A-2D9EC3D0500C}"/>
              </a:ext>
            </a:extLst>
          </p:cNvPr>
          <p:cNvSpPr/>
          <p:nvPr/>
        </p:nvSpPr>
        <p:spPr>
          <a:xfrm>
            <a:off x="9601200" y="2788920"/>
            <a:ext cx="1828800" cy="502920"/>
          </a:xfrm>
          <a:prstGeom prst="ellipse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28E1C54D-6587-3E27-D530-28EB97D31E61}"/>
              </a:ext>
            </a:extLst>
          </p:cNvPr>
          <p:cNvSpPr/>
          <p:nvPr/>
        </p:nvSpPr>
        <p:spPr>
          <a:xfrm>
            <a:off x="9601200" y="1005840"/>
            <a:ext cx="1828800" cy="502920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BADE8E9E-693D-4C73-8794-3B36BBC26B94}"/>
              </a:ext>
            </a:extLst>
          </p:cNvPr>
          <p:cNvSpPr/>
          <p:nvPr/>
        </p:nvSpPr>
        <p:spPr>
          <a:xfrm>
            <a:off x="10104120" y="3737153"/>
            <a:ext cx="1280160" cy="1212494"/>
          </a:xfrm>
          <a:prstGeom prst="rect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74478DD5-8A99-FE29-3301-CB390BCAA540}"/>
              </a:ext>
            </a:extLst>
          </p:cNvPr>
          <p:cNvSpPr/>
          <p:nvPr/>
        </p:nvSpPr>
        <p:spPr>
          <a:xfrm>
            <a:off x="10104120" y="4778654"/>
            <a:ext cx="1280160" cy="341986"/>
          </a:xfrm>
          <a:prstGeom prst="ellipse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45980651-BE0A-D0B8-74F8-287307AB0171}"/>
              </a:ext>
            </a:extLst>
          </p:cNvPr>
          <p:cNvSpPr/>
          <p:nvPr/>
        </p:nvSpPr>
        <p:spPr>
          <a:xfrm>
            <a:off x="10104120" y="3566160"/>
            <a:ext cx="1280160" cy="341986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23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13080"/>
            <a:ext cx="4770120" cy="55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u="sng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Method Popularity</a:t>
            </a:r>
            <a:endParaRPr lang="en-US" sz="2700" u="sng" dirty="0"/>
          </a:p>
        </p:txBody>
      </p:sp>
      <p:sp>
        <p:nvSpPr>
          <p:cNvPr id="9" name="Shape 7"/>
          <p:cNvSpPr/>
          <p:nvPr/>
        </p:nvSpPr>
        <p:spPr>
          <a:xfrm>
            <a:off x="571500" y="2905761"/>
            <a:ext cx="8186420" cy="3439159"/>
          </a:xfrm>
          <a:prstGeom prst="roundRect">
            <a:avLst>
              <a:gd name="adj" fmla="val 1758"/>
            </a:avLst>
          </a:prstGeom>
          <a:solidFill>
            <a:srgbClr val="E9F0F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1540" y="3030729"/>
            <a:ext cx="7205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u="sng" kern="0" spc="100" dirty="0">
                <a:solidFill>
                  <a:srgbClr val="144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00" u="sng" dirty="0"/>
          </a:p>
        </p:txBody>
      </p:sp>
      <p:sp>
        <p:nvSpPr>
          <p:cNvPr id="11" name="Text 9"/>
          <p:cNvSpPr/>
          <p:nvPr/>
        </p:nvSpPr>
        <p:spPr>
          <a:xfrm>
            <a:off x="891540" y="3350769"/>
            <a:ext cx="7510780" cy="2848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Fix payment method captures at checkout</a:t>
            </a:r>
            <a:r>
              <a:rPr lang="en-IN" sz="1400" dirty="0"/>
              <a:t> </a:t>
            </a:r>
            <a:br>
              <a:rPr lang="en-IN" sz="1400" dirty="0"/>
            </a:br>
            <a:r>
              <a:rPr lang="en-IN" sz="1400" dirty="0"/>
              <a:t>"UNKNOWN" being the top bucket which means we're making business decisions without complete information. So, Reduce UNKNOWN payment-method records and improve payment-method data capture.”</a:t>
            </a:r>
            <a:br>
              <a:rPr lang="en-IN" sz="1400" dirty="0"/>
            </a:b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Layer in payment fee data next </a:t>
            </a:r>
            <a:br>
              <a:rPr lang="en-IN" sz="1400" b="1" dirty="0"/>
            </a:br>
            <a:r>
              <a:rPr lang="en-IN" sz="1400" dirty="0"/>
              <a:t>before deciding which method to promote  order volume alone doesn't tell you which channel is </a:t>
            </a:r>
            <a:r>
              <a:rPr lang="en-IN" sz="1400" i="1" dirty="0"/>
              <a:t>profitable</a:t>
            </a:r>
            <a:r>
              <a:rPr lang="en-IN" sz="1400" dirty="0"/>
              <a:t>, only which is popular.</a:t>
            </a:r>
            <a:br>
              <a:rPr lang="en-IN" sz="1400" dirty="0"/>
            </a:b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Since order distribution is near-equal, </a:t>
            </a:r>
            <a:r>
              <a:rPr lang="en-IN" sz="1400" dirty="0"/>
              <a:t>There's no urgent need to "push" one method over another for volume but, once we look at </a:t>
            </a:r>
            <a:r>
              <a:rPr lang="en-IN" sz="1400" i="1" dirty="0"/>
              <a:t>cost</a:t>
            </a:r>
            <a:r>
              <a:rPr lang="en-IN" sz="1400" dirty="0"/>
              <a:t> (processing fees), some methods clearly save us more money than others  so there's a good reason to encourage the cheaper ones, just not for volume, but to save on fees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Analytics  | Payment  Recommendations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EB33C95-4072-20BE-431D-9D6136014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24128"/>
            <a:ext cx="5666740" cy="1745025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4DD499D8-5B5E-22F9-46C3-88028B981229}"/>
              </a:ext>
            </a:extLst>
          </p:cNvPr>
          <p:cNvSpPr/>
          <p:nvPr/>
        </p:nvSpPr>
        <p:spPr>
          <a:xfrm>
            <a:off x="9601200" y="1257300"/>
            <a:ext cx="1828800" cy="1783080"/>
          </a:xfrm>
          <a:prstGeom prst="rect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88C1951C-4483-6286-B678-FD2939FAA498}"/>
              </a:ext>
            </a:extLst>
          </p:cNvPr>
          <p:cNvSpPr/>
          <p:nvPr/>
        </p:nvSpPr>
        <p:spPr>
          <a:xfrm>
            <a:off x="9601200" y="2788920"/>
            <a:ext cx="1828800" cy="502920"/>
          </a:xfrm>
          <a:prstGeom prst="ellipse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C2739F3C-697A-7F98-558E-10286571791B}"/>
              </a:ext>
            </a:extLst>
          </p:cNvPr>
          <p:cNvSpPr/>
          <p:nvPr/>
        </p:nvSpPr>
        <p:spPr>
          <a:xfrm>
            <a:off x="9601200" y="1005840"/>
            <a:ext cx="1828800" cy="502920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97108DAF-978E-17C3-F25D-E6288D424C5F}"/>
              </a:ext>
            </a:extLst>
          </p:cNvPr>
          <p:cNvSpPr/>
          <p:nvPr/>
        </p:nvSpPr>
        <p:spPr>
          <a:xfrm>
            <a:off x="10104120" y="3737153"/>
            <a:ext cx="1280160" cy="1212494"/>
          </a:xfrm>
          <a:prstGeom prst="rect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4DF1B965-AAC6-1413-A1BE-F1EB5FAABF0C}"/>
              </a:ext>
            </a:extLst>
          </p:cNvPr>
          <p:cNvSpPr/>
          <p:nvPr/>
        </p:nvSpPr>
        <p:spPr>
          <a:xfrm>
            <a:off x="10104120" y="4778654"/>
            <a:ext cx="1280160" cy="341986"/>
          </a:xfrm>
          <a:prstGeom prst="ellipse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7A5BB2B2-CBFE-5D79-EF28-4A24F1102A39}"/>
              </a:ext>
            </a:extLst>
          </p:cNvPr>
          <p:cNvSpPr/>
          <p:nvPr/>
        </p:nvSpPr>
        <p:spPr>
          <a:xfrm>
            <a:off x="10104120" y="3566160"/>
            <a:ext cx="1280160" cy="341986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81660" y="231648"/>
            <a:ext cx="17602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3784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u="sng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vs Profit Gap</a:t>
            </a:r>
            <a:endParaRPr lang="en-US" sz="2700" u="sng" dirty="0"/>
          </a:p>
        </p:txBody>
      </p:sp>
      <p:sp>
        <p:nvSpPr>
          <p:cNvPr id="9" name="Shape 7"/>
          <p:cNvSpPr/>
          <p:nvPr/>
        </p:nvSpPr>
        <p:spPr>
          <a:xfrm>
            <a:off x="581660" y="2708539"/>
            <a:ext cx="8135620" cy="3637397"/>
          </a:xfrm>
          <a:prstGeom prst="roundRect">
            <a:avLst>
              <a:gd name="adj" fmla="val 1758"/>
            </a:avLst>
          </a:prstGeom>
          <a:solidFill>
            <a:srgbClr val="E9F0F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1408" y="2849546"/>
            <a:ext cx="7205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u="sng" kern="0" spc="100" dirty="0">
                <a:solidFill>
                  <a:srgbClr val="144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00" u="sng" dirty="0"/>
          </a:p>
        </p:txBody>
      </p:sp>
      <p:sp>
        <p:nvSpPr>
          <p:cNvPr id="11" name="Text 9"/>
          <p:cNvSpPr/>
          <p:nvPr/>
        </p:nvSpPr>
        <p:spPr>
          <a:xfrm>
            <a:off x="851408" y="3233594"/>
            <a:ext cx="7479792" cy="28928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Treat discounting as a profit trade-off, not a "free" growth lever. </a:t>
            </a:r>
            <a:br>
              <a:rPr lang="en-IN" sz="1400" b="1" dirty="0"/>
            </a:br>
            <a:r>
              <a:rPr lang="en-IN" sz="1400" dirty="0"/>
              <a:t>With </a:t>
            </a:r>
            <a:r>
              <a:rPr lang="en-IN" sz="1400" b="1" dirty="0"/>
              <a:t>34%</a:t>
            </a:r>
            <a:r>
              <a:rPr lang="en-IN" sz="1400" dirty="0"/>
              <a:t> of orders discounted and each one earning </a:t>
            </a:r>
            <a:r>
              <a:rPr lang="en-IN" sz="1400" b="1" dirty="0"/>
              <a:t>48% </a:t>
            </a:r>
            <a:r>
              <a:rPr lang="en-IN" sz="1400" dirty="0"/>
              <a:t>less profit, this is a material, ongoing drag on total profit not a rounding error.</a:t>
            </a:r>
            <a:br>
              <a:rPr lang="en-IN" sz="1400" dirty="0"/>
            </a:b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Find out which discounts are the real problem.</a:t>
            </a:r>
            <a:br>
              <a:rPr lang="en-IN" sz="1400" dirty="0"/>
            </a:br>
            <a:r>
              <a:rPr lang="en-IN" sz="1400" dirty="0"/>
              <a:t>check if certain discount types (coupon vs. automatic) or categories (e.g., Fashion/Beauty, flagged earlier) are driving this gap disproportionately, so we can fix the actual cause instead of cutting discounts everywhere.</a:t>
            </a:r>
            <a:br>
              <a:rPr lang="en-IN" sz="1400" dirty="0"/>
            </a:b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Test controlled discount reduction.</a:t>
            </a:r>
            <a:br>
              <a:rPr lang="en-IN" sz="1400" b="1" dirty="0"/>
            </a:br>
            <a:r>
              <a:rPr lang="en-IN" sz="1400" dirty="0"/>
              <a:t> On a segment of orders to see if volume holds stays the same, this is pure margin recovery; if volume drops a lot, we'll finally know discounts </a:t>
            </a:r>
            <a:r>
              <a:rPr lang="en-IN" sz="1400" i="1" dirty="0"/>
              <a:t>are</a:t>
            </a:r>
            <a:r>
              <a:rPr lang="en-IN" sz="1400" dirty="0"/>
              <a:t> needed to keep customers buying, instead of just assuming it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Analytics  | Discount vs Profit  Recommendations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3DD30F4-59C3-981C-7A92-6282220BB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60" y="1098295"/>
            <a:ext cx="6855460" cy="1462925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0EB8FDA2-25EA-EFA4-EF04-1DA2A276096E}"/>
              </a:ext>
            </a:extLst>
          </p:cNvPr>
          <p:cNvSpPr/>
          <p:nvPr/>
        </p:nvSpPr>
        <p:spPr>
          <a:xfrm>
            <a:off x="9601200" y="1257300"/>
            <a:ext cx="1828800" cy="1783080"/>
          </a:xfrm>
          <a:prstGeom prst="rect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EDC2DF9E-2CCC-01B4-84FC-C2EDBB954831}"/>
              </a:ext>
            </a:extLst>
          </p:cNvPr>
          <p:cNvSpPr/>
          <p:nvPr/>
        </p:nvSpPr>
        <p:spPr>
          <a:xfrm>
            <a:off x="9601200" y="2788920"/>
            <a:ext cx="1828800" cy="502920"/>
          </a:xfrm>
          <a:prstGeom prst="ellipse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BC7F9D74-2020-F6F2-BBE9-6A49D669CBB0}"/>
              </a:ext>
            </a:extLst>
          </p:cNvPr>
          <p:cNvSpPr/>
          <p:nvPr/>
        </p:nvSpPr>
        <p:spPr>
          <a:xfrm>
            <a:off x="9601200" y="1005840"/>
            <a:ext cx="1828800" cy="502920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BAECEA86-E157-3433-A7E8-CD4C4C002D5A}"/>
              </a:ext>
            </a:extLst>
          </p:cNvPr>
          <p:cNvSpPr/>
          <p:nvPr/>
        </p:nvSpPr>
        <p:spPr>
          <a:xfrm>
            <a:off x="10104120" y="3737153"/>
            <a:ext cx="1280160" cy="1212494"/>
          </a:xfrm>
          <a:prstGeom prst="rect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C714E1A8-CEA6-D63A-59E8-F838ED758240}"/>
              </a:ext>
            </a:extLst>
          </p:cNvPr>
          <p:cNvSpPr/>
          <p:nvPr/>
        </p:nvSpPr>
        <p:spPr>
          <a:xfrm>
            <a:off x="10104120" y="4778654"/>
            <a:ext cx="1280160" cy="341986"/>
          </a:xfrm>
          <a:prstGeom prst="ellipse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6CAE2BDF-0054-0BDA-6B05-0B9805CDC8E1}"/>
              </a:ext>
            </a:extLst>
          </p:cNvPr>
          <p:cNvSpPr/>
          <p:nvPr/>
        </p:nvSpPr>
        <p:spPr>
          <a:xfrm>
            <a:off x="10104120" y="3566160"/>
            <a:ext cx="1280160" cy="341986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74040" y="273304"/>
            <a:ext cx="20296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32892"/>
            <a:ext cx="4363720" cy="4729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u="sng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Impact on Revenue</a:t>
            </a:r>
            <a:endParaRPr lang="en-US" sz="2700" u="sng" dirty="0"/>
          </a:p>
        </p:txBody>
      </p:sp>
      <p:sp>
        <p:nvSpPr>
          <p:cNvPr id="9" name="Shape 7"/>
          <p:cNvSpPr/>
          <p:nvPr/>
        </p:nvSpPr>
        <p:spPr>
          <a:xfrm>
            <a:off x="574040" y="2448560"/>
            <a:ext cx="8133080" cy="3769360"/>
          </a:xfrm>
          <a:prstGeom prst="roundRect">
            <a:avLst>
              <a:gd name="adj" fmla="val 1758"/>
            </a:avLst>
          </a:prstGeom>
          <a:solidFill>
            <a:srgbClr val="E9F0F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4080" y="2702560"/>
            <a:ext cx="7205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u="sng" kern="0" spc="100" dirty="0">
                <a:solidFill>
                  <a:srgbClr val="144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00" u="sng" dirty="0"/>
          </a:p>
        </p:txBody>
      </p:sp>
      <p:sp>
        <p:nvSpPr>
          <p:cNvPr id="11" name="Text 9"/>
          <p:cNvSpPr/>
          <p:nvPr/>
        </p:nvSpPr>
        <p:spPr>
          <a:xfrm>
            <a:off x="894080" y="3114040"/>
            <a:ext cx="7335520" cy="29682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Find out why customers are returning items. </a:t>
            </a:r>
            <a:br>
              <a:rPr lang="en-IN" sz="1400" b="1" dirty="0"/>
            </a:br>
            <a:r>
              <a:rPr lang="en-IN" sz="1400" dirty="0"/>
              <a:t>Is it bad quality, the wrong item being sent, damage during delivery, or customers just changing their mind? Each reason needs its own fix.</a:t>
            </a:r>
            <a:br>
              <a:rPr lang="en-IN" sz="1400" dirty="0"/>
            </a:b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Fixing returns is different from fixing discounts.</a:t>
            </a:r>
            <a:br>
              <a:rPr lang="en-IN" sz="1400" b="1" dirty="0"/>
            </a:br>
            <a:r>
              <a:rPr lang="en-IN" sz="1400" dirty="0"/>
              <a:t>For discounts, we reduce the </a:t>
            </a:r>
            <a:r>
              <a:rPr lang="en-IN" sz="1400" i="1" dirty="0"/>
              <a:t>amount</a:t>
            </a:r>
            <a:r>
              <a:rPr lang="en-IN" sz="1400" dirty="0"/>
              <a:t> we give away per order. But for returns, the real fix is reducing </a:t>
            </a:r>
            <a:r>
              <a:rPr lang="en-IN" sz="1400" i="1" dirty="0"/>
              <a:t>how many</a:t>
            </a:r>
            <a:r>
              <a:rPr lang="en-IN" sz="1400" dirty="0"/>
              <a:t> orders come back in the first-place fewer returns directly mean less revenue and profit lost, directly.</a:t>
            </a:r>
            <a:br>
              <a:rPr lang="en-IN" sz="1400" dirty="0"/>
            </a:b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Set an internal target to bring returns down</a:t>
            </a:r>
            <a:r>
              <a:rPr lang="en-IN" sz="1400" dirty="0"/>
              <a:t>.</a:t>
            </a:r>
            <a:br>
              <a:rPr lang="en-IN" sz="1400" dirty="0"/>
            </a:br>
            <a:r>
              <a:rPr lang="en-IN" sz="1400" dirty="0"/>
              <a:t>Reduce return-related revenue loss from the current </a:t>
            </a:r>
            <a:r>
              <a:rPr lang="en-IN" sz="1400" b="1" dirty="0"/>
              <a:t>6%</a:t>
            </a:r>
            <a:r>
              <a:rPr lang="en-IN" sz="1400" dirty="0"/>
              <a:t> of revenue by setting an internal reduction target and tracking it as a recurring KPI. This requires ongoing monitoring because return rates can increase again without continuous attention.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Analytics  | Return on Revenue Recommendations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DA9A96-32E9-53F6-3325-C1F867169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40" y="1097280"/>
            <a:ext cx="6029960" cy="1215644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FE8C7AE9-DF31-C808-C385-368D80635750}"/>
              </a:ext>
            </a:extLst>
          </p:cNvPr>
          <p:cNvSpPr/>
          <p:nvPr/>
        </p:nvSpPr>
        <p:spPr>
          <a:xfrm>
            <a:off x="9601200" y="1257300"/>
            <a:ext cx="1828800" cy="1783080"/>
          </a:xfrm>
          <a:prstGeom prst="rect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59BBF826-799B-B43A-7ACA-962E9D007595}"/>
              </a:ext>
            </a:extLst>
          </p:cNvPr>
          <p:cNvSpPr/>
          <p:nvPr/>
        </p:nvSpPr>
        <p:spPr>
          <a:xfrm>
            <a:off x="9601200" y="2788920"/>
            <a:ext cx="1828800" cy="502920"/>
          </a:xfrm>
          <a:prstGeom prst="ellipse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2E8F642B-8167-1017-5E76-9CBCE927B3A9}"/>
              </a:ext>
            </a:extLst>
          </p:cNvPr>
          <p:cNvSpPr/>
          <p:nvPr/>
        </p:nvSpPr>
        <p:spPr>
          <a:xfrm>
            <a:off x="9601200" y="1005840"/>
            <a:ext cx="1828800" cy="502920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112AB68F-26BC-BD55-AB78-15BEE5049CAE}"/>
              </a:ext>
            </a:extLst>
          </p:cNvPr>
          <p:cNvSpPr/>
          <p:nvPr/>
        </p:nvSpPr>
        <p:spPr>
          <a:xfrm>
            <a:off x="10104120" y="3737153"/>
            <a:ext cx="1280160" cy="1212494"/>
          </a:xfrm>
          <a:prstGeom prst="rect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D7189406-4F08-D164-8D55-DF481E12FAD5}"/>
              </a:ext>
            </a:extLst>
          </p:cNvPr>
          <p:cNvSpPr/>
          <p:nvPr/>
        </p:nvSpPr>
        <p:spPr>
          <a:xfrm>
            <a:off x="10104120" y="4778654"/>
            <a:ext cx="1280160" cy="341986"/>
          </a:xfrm>
          <a:prstGeom prst="ellipse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0762A715-3BC3-A0BD-D89E-87A1A00E13B3}"/>
              </a:ext>
            </a:extLst>
          </p:cNvPr>
          <p:cNvSpPr/>
          <p:nvPr/>
        </p:nvSpPr>
        <p:spPr>
          <a:xfrm>
            <a:off x="10104120" y="3566160"/>
            <a:ext cx="1280160" cy="341986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21030" y="270052"/>
            <a:ext cx="1845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030" y="544372"/>
            <a:ext cx="3967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u="sng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Reason Analysis</a:t>
            </a:r>
            <a:endParaRPr lang="en-US" sz="2700" u="sng" dirty="0"/>
          </a:p>
        </p:txBody>
      </p:sp>
      <p:sp>
        <p:nvSpPr>
          <p:cNvPr id="9" name="Shape 7"/>
          <p:cNvSpPr/>
          <p:nvPr/>
        </p:nvSpPr>
        <p:spPr>
          <a:xfrm>
            <a:off x="621030" y="3025444"/>
            <a:ext cx="7845552" cy="3361336"/>
          </a:xfrm>
          <a:prstGeom prst="roundRect">
            <a:avLst>
              <a:gd name="adj" fmla="val 1758"/>
            </a:avLst>
          </a:prstGeom>
          <a:solidFill>
            <a:srgbClr val="E9F0F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41070" y="3166338"/>
            <a:ext cx="7205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u="sng" kern="0" spc="100" dirty="0">
                <a:solidFill>
                  <a:srgbClr val="144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00" u="sng" dirty="0"/>
          </a:p>
        </p:txBody>
      </p:sp>
      <p:sp>
        <p:nvSpPr>
          <p:cNvPr id="11" name="Text 9"/>
          <p:cNvSpPr/>
          <p:nvPr/>
        </p:nvSpPr>
        <p:spPr>
          <a:xfrm>
            <a:off x="941070" y="3583862"/>
            <a:ext cx="7205472" cy="2600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Fix return-reason capture at the source</a:t>
            </a:r>
            <a:r>
              <a:rPr lang="en-IN" sz="1400" dirty="0"/>
              <a:t>.</a:t>
            </a:r>
            <a:br>
              <a:rPr lang="en-IN" sz="1400" dirty="0"/>
            </a:br>
            <a:r>
              <a:rPr lang="en-IN" sz="1400" dirty="0"/>
              <a:t>"Unknown" being </a:t>
            </a:r>
            <a:r>
              <a:rPr lang="en-IN" sz="1400" b="1" dirty="0"/>
              <a:t>#1</a:t>
            </a:r>
            <a:r>
              <a:rPr lang="en-IN" sz="1400" dirty="0"/>
              <a:t> means the biggest slice of loss is currently unexplained and unfixable until this is closed.</a:t>
            </a:r>
            <a:br>
              <a:rPr lang="en-IN" sz="1400" dirty="0"/>
            </a:b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Prioritize the operationally fixable reasons first.</a:t>
            </a:r>
            <a:br>
              <a:rPr lang="en-IN" sz="1400" b="1" dirty="0"/>
            </a:br>
            <a:r>
              <a:rPr lang="en-IN" sz="1400" b="1" dirty="0"/>
              <a:t> </a:t>
            </a:r>
            <a:r>
              <a:rPr lang="en-IN" sz="1400" dirty="0"/>
              <a:t>Damaged, Wrong Item, Quality Issue, Late Delivery for </a:t>
            </a:r>
            <a:r>
              <a:rPr lang="en-IN" sz="1400" b="1" dirty="0"/>
              <a:t>65%</a:t>
            </a:r>
            <a:r>
              <a:rPr lang="en-IN" sz="1400" dirty="0"/>
              <a:t> of revenue lost to returns. We can act on these directly pack products better, double-check orders before shipping, improve quality checks, and hold couriers to better delivery timelines.</a:t>
            </a:r>
            <a:br>
              <a:rPr lang="en-IN" sz="1400" dirty="0"/>
            </a:b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Track return reason as a monthly trend, not just a total</a:t>
            </a:r>
            <a:r>
              <a:rPr lang="en-IN" sz="1400" dirty="0"/>
              <a:t>.</a:t>
            </a:r>
            <a:br>
              <a:rPr lang="en-IN" sz="1400" dirty="0"/>
            </a:br>
            <a:r>
              <a:rPr lang="en-IN" sz="1400" dirty="0"/>
              <a:t>spotting whether Damaged or Late Delivery is rising will show early warning of a process breaking down.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Analytics  | Return Recommendations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9D7763-4D90-F641-2239-C7DA572B2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" y="1051560"/>
            <a:ext cx="5322570" cy="1816608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75C700F8-2259-AC29-B0E9-20980F032587}"/>
              </a:ext>
            </a:extLst>
          </p:cNvPr>
          <p:cNvSpPr/>
          <p:nvPr/>
        </p:nvSpPr>
        <p:spPr>
          <a:xfrm>
            <a:off x="9601200" y="1257300"/>
            <a:ext cx="1828800" cy="1783080"/>
          </a:xfrm>
          <a:prstGeom prst="rect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3CD0B879-3D56-047C-1C84-689CDFD28D89}"/>
              </a:ext>
            </a:extLst>
          </p:cNvPr>
          <p:cNvSpPr/>
          <p:nvPr/>
        </p:nvSpPr>
        <p:spPr>
          <a:xfrm>
            <a:off x="9601200" y="2788920"/>
            <a:ext cx="1828800" cy="502920"/>
          </a:xfrm>
          <a:prstGeom prst="ellipse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B3017CE3-2A3E-DE8F-5174-4A0EE094CBB7}"/>
              </a:ext>
            </a:extLst>
          </p:cNvPr>
          <p:cNvSpPr/>
          <p:nvPr/>
        </p:nvSpPr>
        <p:spPr>
          <a:xfrm>
            <a:off x="9601200" y="1005840"/>
            <a:ext cx="1828800" cy="502920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FA5729A8-5703-0548-7D6D-A4863C77488E}"/>
              </a:ext>
            </a:extLst>
          </p:cNvPr>
          <p:cNvSpPr/>
          <p:nvPr/>
        </p:nvSpPr>
        <p:spPr>
          <a:xfrm>
            <a:off x="10104120" y="3737153"/>
            <a:ext cx="1280160" cy="1212494"/>
          </a:xfrm>
          <a:prstGeom prst="rect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7B5945DA-510A-A7A4-C1AC-357E2B2E878B}"/>
              </a:ext>
            </a:extLst>
          </p:cNvPr>
          <p:cNvSpPr/>
          <p:nvPr/>
        </p:nvSpPr>
        <p:spPr>
          <a:xfrm>
            <a:off x="10104120" y="4778654"/>
            <a:ext cx="1280160" cy="341986"/>
          </a:xfrm>
          <a:prstGeom prst="ellipse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A858477B-BDD4-2FF3-F445-9C181703049C}"/>
              </a:ext>
            </a:extLst>
          </p:cNvPr>
          <p:cNvSpPr/>
          <p:nvPr/>
        </p:nvSpPr>
        <p:spPr>
          <a:xfrm>
            <a:off x="10104120" y="3566160"/>
            <a:ext cx="1280160" cy="341986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7863840" cy="5227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u="sng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Cost Burden</a:t>
            </a:r>
            <a:endParaRPr lang="en-US" sz="2700" u="sng" dirty="0"/>
          </a:p>
        </p:txBody>
      </p:sp>
      <p:sp>
        <p:nvSpPr>
          <p:cNvPr id="9" name="Shape 7"/>
          <p:cNvSpPr/>
          <p:nvPr/>
        </p:nvSpPr>
        <p:spPr>
          <a:xfrm>
            <a:off x="502920" y="3521415"/>
            <a:ext cx="7845552" cy="2558372"/>
          </a:xfrm>
          <a:prstGeom prst="roundRect">
            <a:avLst>
              <a:gd name="adj" fmla="val 1758"/>
            </a:avLst>
          </a:prstGeom>
          <a:solidFill>
            <a:srgbClr val="E9F0F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3730751"/>
            <a:ext cx="7205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u="sng" kern="0" spc="100" dirty="0">
                <a:solidFill>
                  <a:srgbClr val="144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00" u="sng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Analytics  | </a:t>
            </a:r>
            <a:r>
              <a:rPr lang="en-IN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Recommendations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9A9D6B6-1773-531A-372E-82E3CE6E5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79947"/>
            <a:ext cx="5869532" cy="2356639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9" name="Shape 1">
            <a:extLst>
              <a:ext uri="{FF2B5EF4-FFF2-40B4-BE49-F238E27FC236}">
                <a16:creationId xmlns:a16="http://schemas.microsoft.com/office/drawing/2014/main" id="{5EFB2FF6-41F3-F733-28F4-3299FD1F6FEE}"/>
              </a:ext>
            </a:extLst>
          </p:cNvPr>
          <p:cNvSpPr/>
          <p:nvPr/>
        </p:nvSpPr>
        <p:spPr>
          <a:xfrm>
            <a:off x="9601200" y="1257300"/>
            <a:ext cx="1828800" cy="1783080"/>
          </a:xfrm>
          <a:prstGeom prst="rect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3B6FD3CE-03DD-C9ED-5B69-C96CFC5AAE40}"/>
              </a:ext>
            </a:extLst>
          </p:cNvPr>
          <p:cNvSpPr/>
          <p:nvPr/>
        </p:nvSpPr>
        <p:spPr>
          <a:xfrm>
            <a:off x="9601200" y="2788920"/>
            <a:ext cx="1828800" cy="502920"/>
          </a:xfrm>
          <a:prstGeom prst="ellipse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DE22B265-561E-F762-20BA-42967FD722BD}"/>
              </a:ext>
            </a:extLst>
          </p:cNvPr>
          <p:cNvSpPr/>
          <p:nvPr/>
        </p:nvSpPr>
        <p:spPr>
          <a:xfrm>
            <a:off x="9601200" y="1005840"/>
            <a:ext cx="1828800" cy="502920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AF31021C-CADE-819A-5C75-3950B39A5E56}"/>
              </a:ext>
            </a:extLst>
          </p:cNvPr>
          <p:cNvSpPr/>
          <p:nvPr/>
        </p:nvSpPr>
        <p:spPr>
          <a:xfrm>
            <a:off x="10104120" y="3737153"/>
            <a:ext cx="1280160" cy="1212494"/>
          </a:xfrm>
          <a:prstGeom prst="rect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9C01BE7A-E68E-B405-B1D9-D2502E0170A3}"/>
              </a:ext>
            </a:extLst>
          </p:cNvPr>
          <p:cNvSpPr/>
          <p:nvPr/>
        </p:nvSpPr>
        <p:spPr>
          <a:xfrm>
            <a:off x="10104120" y="4778654"/>
            <a:ext cx="1280160" cy="341986"/>
          </a:xfrm>
          <a:prstGeom prst="ellipse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8719589C-E364-4EC3-8F72-78F85A467EE9}"/>
              </a:ext>
            </a:extLst>
          </p:cNvPr>
          <p:cNvSpPr/>
          <p:nvPr/>
        </p:nvSpPr>
        <p:spPr>
          <a:xfrm>
            <a:off x="10104120" y="3566160"/>
            <a:ext cx="1280160" cy="341986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EF4E04E-29CC-F246-F3A7-EE95001CBA72}"/>
              </a:ext>
            </a:extLst>
          </p:cNvPr>
          <p:cNvSpPr/>
          <p:nvPr/>
        </p:nvSpPr>
        <p:spPr>
          <a:xfrm>
            <a:off x="822960" y="4191494"/>
            <a:ext cx="7205472" cy="1516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Many orders are spending a high percentage of their value on logistics. Some orders are spending </a:t>
            </a:r>
            <a:r>
              <a:rPr lang="en-IN" sz="1400" b="1" dirty="0"/>
              <a:t>65–83%</a:t>
            </a:r>
            <a:r>
              <a:rPr lang="en-IN" sz="1400" dirty="0"/>
              <a:t> of their order value on logistics costs.</a:t>
            </a:r>
            <a:br>
              <a:rPr lang="en-IN" sz="1400" dirty="0"/>
            </a:b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So, set a suitable minimum order value or delivery charge for low-value orders and review specific orders with very high logistics costs to understand what's driving them. This will help reduce logistics leakage and directly improve profit.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endParaRPr lang="en-US" sz="1488" dirty="0"/>
          </a:p>
        </p:txBody>
      </p:sp>
      <p:sp>
        <p:nvSpPr>
          <p:cNvPr id="4" name="Text 2"/>
          <p:cNvSpPr/>
          <p:nvPr/>
        </p:nvSpPr>
        <p:spPr>
          <a:xfrm>
            <a:off x="502920" y="225779"/>
            <a:ext cx="17012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00099"/>
            <a:ext cx="3657600" cy="5057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u="sng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Fee Leakage</a:t>
            </a:r>
            <a:endParaRPr lang="en-US" sz="2700" u="sng" dirty="0"/>
          </a:p>
        </p:txBody>
      </p:sp>
      <p:sp>
        <p:nvSpPr>
          <p:cNvPr id="9" name="Shape 7"/>
          <p:cNvSpPr/>
          <p:nvPr/>
        </p:nvSpPr>
        <p:spPr>
          <a:xfrm>
            <a:off x="502920" y="3086099"/>
            <a:ext cx="7845552" cy="2983961"/>
          </a:xfrm>
          <a:prstGeom prst="roundRect">
            <a:avLst>
              <a:gd name="adj" fmla="val 1758"/>
            </a:avLst>
          </a:prstGeom>
          <a:solidFill>
            <a:srgbClr val="E9F0F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268980"/>
            <a:ext cx="7205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u="sng" kern="0" spc="100" dirty="0">
                <a:solidFill>
                  <a:srgbClr val="144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00" u="sng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Analytics  | </a:t>
            </a:r>
            <a:r>
              <a:rPr lang="en-IN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Recommendations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F4521EE-3739-43CF-C84B-0F306108C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48739"/>
            <a:ext cx="6176740" cy="1853022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6" name="Shape 1">
            <a:extLst>
              <a:ext uri="{FF2B5EF4-FFF2-40B4-BE49-F238E27FC236}">
                <a16:creationId xmlns:a16="http://schemas.microsoft.com/office/drawing/2014/main" id="{49A248EE-C1B9-C980-7A23-1AE7D2B875CF}"/>
              </a:ext>
            </a:extLst>
          </p:cNvPr>
          <p:cNvSpPr/>
          <p:nvPr/>
        </p:nvSpPr>
        <p:spPr>
          <a:xfrm>
            <a:off x="9601200" y="1257300"/>
            <a:ext cx="1828800" cy="1783080"/>
          </a:xfrm>
          <a:prstGeom prst="rect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D7E22B05-BFFC-FAEF-E18C-C444322BC3ED}"/>
              </a:ext>
            </a:extLst>
          </p:cNvPr>
          <p:cNvSpPr/>
          <p:nvPr/>
        </p:nvSpPr>
        <p:spPr>
          <a:xfrm>
            <a:off x="9601200" y="2788920"/>
            <a:ext cx="1828800" cy="502920"/>
          </a:xfrm>
          <a:prstGeom prst="ellipse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A61C4B85-0A73-CCA8-7978-AF8610BA2731}"/>
              </a:ext>
            </a:extLst>
          </p:cNvPr>
          <p:cNvSpPr/>
          <p:nvPr/>
        </p:nvSpPr>
        <p:spPr>
          <a:xfrm>
            <a:off x="9601200" y="1005840"/>
            <a:ext cx="1828800" cy="502920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1D6F9BC0-330A-5E08-2612-7D2F3D7A8AA8}"/>
              </a:ext>
            </a:extLst>
          </p:cNvPr>
          <p:cNvSpPr/>
          <p:nvPr/>
        </p:nvSpPr>
        <p:spPr>
          <a:xfrm>
            <a:off x="10104120" y="3737153"/>
            <a:ext cx="1280160" cy="1212494"/>
          </a:xfrm>
          <a:prstGeom prst="rect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51F1CBC2-E321-79A0-C597-9B2136A84048}"/>
              </a:ext>
            </a:extLst>
          </p:cNvPr>
          <p:cNvSpPr/>
          <p:nvPr/>
        </p:nvSpPr>
        <p:spPr>
          <a:xfrm>
            <a:off x="10104120" y="4778654"/>
            <a:ext cx="1280160" cy="341986"/>
          </a:xfrm>
          <a:prstGeom prst="ellipse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B3D0B9E3-1FF1-8BE6-CF28-283F4444AAE0}"/>
              </a:ext>
            </a:extLst>
          </p:cNvPr>
          <p:cNvSpPr/>
          <p:nvPr/>
        </p:nvSpPr>
        <p:spPr>
          <a:xfrm>
            <a:off x="10104120" y="3566160"/>
            <a:ext cx="1280160" cy="341986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C666EDEE-DFA1-9F67-C0FF-5E9EE79463C5}"/>
              </a:ext>
            </a:extLst>
          </p:cNvPr>
          <p:cNvSpPr/>
          <p:nvPr/>
        </p:nvSpPr>
        <p:spPr>
          <a:xfrm>
            <a:off x="822960" y="3690481"/>
            <a:ext cx="7205472" cy="2118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Promote COD costs the business the most in payment fees </a:t>
            </a:r>
            <a:r>
              <a:rPr lang="en-IN" sz="1400" b="1" dirty="0"/>
              <a:t>(3.5% of every sale), </a:t>
            </a:r>
            <a:r>
              <a:rPr lang="en-IN" sz="1400" dirty="0"/>
              <a:t>while UPI costs the least </a:t>
            </a:r>
            <a:r>
              <a:rPr lang="en-IN" sz="1400" b="1" dirty="0"/>
              <a:t>(1.2%) </a:t>
            </a:r>
            <a:r>
              <a:rPr lang="en-IN" sz="1400" dirty="0"/>
              <a:t> nearly 3 times cheaper</a:t>
            </a:r>
            <a:r>
              <a:rPr lang="en-IN" dirty="0"/>
              <a:t>.</a:t>
            </a: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So, we need to encouraging customers to pay via UPI or other low-fee methods </a:t>
            </a:r>
            <a:br>
              <a:rPr lang="en-IN" sz="1400" dirty="0"/>
            </a:br>
            <a:r>
              <a:rPr lang="en-IN" sz="1400" dirty="0"/>
              <a:t>(Wallet, Card) instead of COD. Out of the total </a:t>
            </a:r>
            <a:r>
              <a:rPr lang="en-IN" sz="1400" b="1" dirty="0"/>
              <a:t>₹8,45,543 </a:t>
            </a:r>
            <a:r>
              <a:rPr lang="en-IN" sz="1400" dirty="0"/>
              <a:t>spent on payment fees across the business, COD alone accounts for </a:t>
            </a:r>
            <a:r>
              <a:rPr lang="en-IN" sz="1400" b="1" dirty="0"/>
              <a:t>₹3,38,329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The single biggest chunk. Shifting customers toward cheaper payment methods will directly save money and boost profit.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endParaRPr lang="en-US" sz="1488" dirty="0"/>
          </a:p>
        </p:txBody>
      </p:sp>
      <p:sp>
        <p:nvSpPr>
          <p:cNvPr id="4" name="Text 2"/>
          <p:cNvSpPr/>
          <p:nvPr/>
        </p:nvSpPr>
        <p:spPr>
          <a:xfrm>
            <a:off x="502920" y="261164"/>
            <a:ext cx="22745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35484"/>
            <a:ext cx="4890174" cy="488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u="sng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Leakage Breakdown</a:t>
            </a:r>
            <a:endParaRPr lang="en-US" sz="2700" u="sng" dirty="0"/>
          </a:p>
        </p:txBody>
      </p:sp>
      <p:sp>
        <p:nvSpPr>
          <p:cNvPr id="9" name="Shape 7"/>
          <p:cNvSpPr/>
          <p:nvPr/>
        </p:nvSpPr>
        <p:spPr>
          <a:xfrm>
            <a:off x="502920" y="3564196"/>
            <a:ext cx="7845552" cy="2836603"/>
          </a:xfrm>
          <a:prstGeom prst="roundRect">
            <a:avLst>
              <a:gd name="adj" fmla="val 1758"/>
            </a:avLst>
          </a:prstGeom>
          <a:solidFill>
            <a:srgbClr val="E9F0F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" y="3610690"/>
            <a:ext cx="7205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u="sng" kern="0" spc="100" dirty="0">
                <a:solidFill>
                  <a:srgbClr val="144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00" u="sng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Analytics  | </a:t>
            </a:r>
            <a:r>
              <a:rPr lang="en-IN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Recommendations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3AD66E-BD32-8704-7213-01EAD1A74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88127"/>
            <a:ext cx="5496353" cy="2338634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6" name="Shape 1">
            <a:extLst>
              <a:ext uri="{FF2B5EF4-FFF2-40B4-BE49-F238E27FC236}">
                <a16:creationId xmlns:a16="http://schemas.microsoft.com/office/drawing/2014/main" id="{C450668A-87B8-A536-9085-7360A9936C92}"/>
              </a:ext>
            </a:extLst>
          </p:cNvPr>
          <p:cNvSpPr/>
          <p:nvPr/>
        </p:nvSpPr>
        <p:spPr>
          <a:xfrm>
            <a:off x="9601200" y="1257300"/>
            <a:ext cx="1828800" cy="1783080"/>
          </a:xfrm>
          <a:prstGeom prst="rect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76290CBA-EA65-96B0-4F05-28D13311F1BE}"/>
              </a:ext>
            </a:extLst>
          </p:cNvPr>
          <p:cNvSpPr/>
          <p:nvPr/>
        </p:nvSpPr>
        <p:spPr>
          <a:xfrm>
            <a:off x="9601200" y="2788920"/>
            <a:ext cx="1828800" cy="502920"/>
          </a:xfrm>
          <a:prstGeom prst="ellipse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D15C02B3-8C34-29CB-6D20-069735A272DD}"/>
              </a:ext>
            </a:extLst>
          </p:cNvPr>
          <p:cNvSpPr/>
          <p:nvPr/>
        </p:nvSpPr>
        <p:spPr>
          <a:xfrm>
            <a:off x="9601200" y="1005840"/>
            <a:ext cx="1828800" cy="502920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C48A9AA0-144F-2DCD-10CD-D783FC6B6BDA}"/>
              </a:ext>
            </a:extLst>
          </p:cNvPr>
          <p:cNvSpPr/>
          <p:nvPr/>
        </p:nvSpPr>
        <p:spPr>
          <a:xfrm>
            <a:off x="10104120" y="3737153"/>
            <a:ext cx="1280160" cy="1212494"/>
          </a:xfrm>
          <a:prstGeom prst="rect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63ECE618-7266-4996-8A55-FF503D02570F}"/>
              </a:ext>
            </a:extLst>
          </p:cNvPr>
          <p:cNvSpPr/>
          <p:nvPr/>
        </p:nvSpPr>
        <p:spPr>
          <a:xfrm>
            <a:off x="10104120" y="4778654"/>
            <a:ext cx="1280160" cy="341986"/>
          </a:xfrm>
          <a:prstGeom prst="ellipse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C80DE151-D3B4-1EC8-7894-429A70BF244E}"/>
              </a:ext>
            </a:extLst>
          </p:cNvPr>
          <p:cNvSpPr/>
          <p:nvPr/>
        </p:nvSpPr>
        <p:spPr>
          <a:xfrm>
            <a:off x="10104120" y="3566160"/>
            <a:ext cx="1280160" cy="341986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9E333276-4430-8794-8097-A3B890B448E5}"/>
              </a:ext>
            </a:extLst>
          </p:cNvPr>
          <p:cNvSpPr/>
          <p:nvPr/>
        </p:nvSpPr>
        <p:spPr>
          <a:xfrm>
            <a:off x="822960" y="3930730"/>
            <a:ext cx="7205472" cy="23388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Focus first on reducing returns, as they are the biggest leakage driver among the highest-loss orders return loss is the top factor in</a:t>
            </a:r>
            <a:r>
              <a:rPr lang="en-IN" sz="1400" b="1" dirty="0"/>
              <a:t> 71% </a:t>
            </a:r>
            <a:r>
              <a:rPr lang="en-IN" sz="1400" dirty="0"/>
              <a:t>of the</a:t>
            </a:r>
            <a:r>
              <a:rPr lang="en-IN" sz="1400" b="1" dirty="0"/>
              <a:t> 100 </a:t>
            </a:r>
            <a:r>
              <a:rPr lang="en-IN" sz="1400" dirty="0"/>
              <a:t>worst-leakage orders.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Across the business overall, discounts remain the single largest leakage source</a:t>
            </a:r>
            <a:br>
              <a:rPr lang="en-IN" sz="1400" dirty="0"/>
            </a:br>
            <a:r>
              <a:rPr lang="en-IN" sz="1400" dirty="0"/>
              <a:t> </a:t>
            </a:r>
            <a:r>
              <a:rPr lang="en-IN" sz="1400" b="1" dirty="0"/>
              <a:t>(49.2% </a:t>
            </a:r>
            <a:r>
              <a:rPr lang="en-IN" sz="1400" dirty="0"/>
              <a:t>of all leakage</a:t>
            </a:r>
            <a:r>
              <a:rPr lang="en-IN" sz="1400" b="1" dirty="0"/>
              <a:t>, ₹44.16L), </a:t>
            </a:r>
            <a:r>
              <a:rPr lang="en-IN" sz="1400" dirty="0"/>
              <a:t>with returns close behind</a:t>
            </a:r>
            <a:r>
              <a:rPr lang="en-IN" sz="1400" b="1" dirty="0"/>
              <a:t> (31.7%,  ₹28.44L). </a:t>
            </a:r>
            <a:r>
              <a:rPr lang="en-IN" sz="1400" dirty="0"/>
              <a:t>Together, these two factors account for</a:t>
            </a:r>
            <a:r>
              <a:rPr lang="en-IN" sz="1400" b="1" dirty="0"/>
              <a:t> 81% </a:t>
            </a:r>
            <a:r>
              <a:rPr lang="en-IN" sz="1400" dirty="0"/>
              <a:t>of total leakage.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So, first do prioritize in these two areas since it does the most damage in the worst-hit orders while also keeping discount depth and logistics costs under control, to protect overall profitability.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189787"/>
            <a:ext cx="17885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64107"/>
            <a:ext cx="3845344" cy="5417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u="sng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Profit Ranking</a:t>
            </a:r>
            <a:endParaRPr lang="en-US" sz="2700" u="sng" dirty="0"/>
          </a:p>
        </p:txBody>
      </p:sp>
      <p:sp>
        <p:nvSpPr>
          <p:cNvPr id="9" name="Shape 7"/>
          <p:cNvSpPr/>
          <p:nvPr/>
        </p:nvSpPr>
        <p:spPr>
          <a:xfrm>
            <a:off x="502920" y="3291840"/>
            <a:ext cx="7845552" cy="3031138"/>
          </a:xfrm>
          <a:prstGeom prst="roundRect">
            <a:avLst>
              <a:gd name="adj" fmla="val 1758"/>
            </a:avLst>
          </a:prstGeom>
          <a:solidFill>
            <a:srgbClr val="E9F0F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451822"/>
            <a:ext cx="22120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u="sng" kern="0" spc="100" dirty="0">
                <a:solidFill>
                  <a:srgbClr val="144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00" u="sng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Analytics  | </a:t>
            </a:r>
            <a:r>
              <a:rPr lang="en-IN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profit</a:t>
            </a: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Recommendations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F899C90-C759-4CEA-1F5D-2D46428E6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1005840"/>
            <a:ext cx="5476243" cy="2168180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6" name="Shape 1">
            <a:extLst>
              <a:ext uri="{FF2B5EF4-FFF2-40B4-BE49-F238E27FC236}">
                <a16:creationId xmlns:a16="http://schemas.microsoft.com/office/drawing/2014/main" id="{112DFDF1-BF59-B8EA-88C1-AD2B20F86A0D}"/>
              </a:ext>
            </a:extLst>
          </p:cNvPr>
          <p:cNvSpPr/>
          <p:nvPr/>
        </p:nvSpPr>
        <p:spPr>
          <a:xfrm>
            <a:off x="9601200" y="1257300"/>
            <a:ext cx="1828800" cy="1783080"/>
          </a:xfrm>
          <a:prstGeom prst="rect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B5B41413-F69F-FF01-F7F9-7726CAD164BF}"/>
              </a:ext>
            </a:extLst>
          </p:cNvPr>
          <p:cNvSpPr/>
          <p:nvPr/>
        </p:nvSpPr>
        <p:spPr>
          <a:xfrm>
            <a:off x="9601200" y="2788920"/>
            <a:ext cx="1828800" cy="502920"/>
          </a:xfrm>
          <a:prstGeom prst="ellipse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D2D59C9B-C817-54A0-8252-CA5C4DDB6C93}"/>
              </a:ext>
            </a:extLst>
          </p:cNvPr>
          <p:cNvSpPr/>
          <p:nvPr/>
        </p:nvSpPr>
        <p:spPr>
          <a:xfrm>
            <a:off x="9601200" y="1005840"/>
            <a:ext cx="1828800" cy="502920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93F224A6-B602-0580-8499-096ACF9BC635}"/>
              </a:ext>
            </a:extLst>
          </p:cNvPr>
          <p:cNvSpPr/>
          <p:nvPr/>
        </p:nvSpPr>
        <p:spPr>
          <a:xfrm>
            <a:off x="10104120" y="3737153"/>
            <a:ext cx="1280160" cy="1212494"/>
          </a:xfrm>
          <a:prstGeom prst="rect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6D184473-6767-8EFB-68C2-D2C93127B74F}"/>
              </a:ext>
            </a:extLst>
          </p:cNvPr>
          <p:cNvSpPr/>
          <p:nvPr/>
        </p:nvSpPr>
        <p:spPr>
          <a:xfrm>
            <a:off x="10104120" y="4778654"/>
            <a:ext cx="1280160" cy="341986"/>
          </a:xfrm>
          <a:prstGeom prst="ellipse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27C15046-6A59-EE6F-21A5-163331990707}"/>
              </a:ext>
            </a:extLst>
          </p:cNvPr>
          <p:cNvSpPr/>
          <p:nvPr/>
        </p:nvSpPr>
        <p:spPr>
          <a:xfrm>
            <a:off x="10104120" y="3566160"/>
            <a:ext cx="1280160" cy="341986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C12550B2-5260-25EB-D2F5-EDB9DF46CC4C}"/>
              </a:ext>
            </a:extLst>
          </p:cNvPr>
          <p:cNvSpPr/>
          <p:nvPr/>
        </p:nvSpPr>
        <p:spPr>
          <a:xfrm>
            <a:off x="822960" y="3886124"/>
            <a:ext cx="7205472" cy="23388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It shows a clear gap in product profitability. The top </a:t>
            </a:r>
            <a:r>
              <a:rPr lang="en-IN" sz="1400" b="1" dirty="0"/>
              <a:t>10%</a:t>
            </a:r>
            <a:r>
              <a:rPr lang="en-IN" sz="1400" dirty="0"/>
              <a:t> of products </a:t>
            </a:r>
            <a:r>
              <a:rPr lang="en-IN" sz="1400" b="1" dirty="0"/>
              <a:t>(138 SKUs) </a:t>
            </a:r>
            <a:r>
              <a:rPr lang="en-IN" sz="1400" dirty="0"/>
              <a:t>contribute </a:t>
            </a:r>
            <a:r>
              <a:rPr lang="en-IN" sz="1400" b="1" dirty="0"/>
              <a:t>₹57.68L </a:t>
            </a:r>
            <a:r>
              <a:rPr lang="en-IN" sz="1400" dirty="0"/>
              <a:t>about </a:t>
            </a:r>
            <a:r>
              <a:rPr lang="en-IN" sz="1400" b="1" dirty="0"/>
              <a:t>22% </a:t>
            </a:r>
            <a:r>
              <a:rPr lang="en-IN" sz="1400" dirty="0"/>
              <a:t>of total product profit while </a:t>
            </a:r>
            <a:r>
              <a:rPr lang="en-IN" sz="1400" b="1" dirty="0"/>
              <a:t>46</a:t>
            </a:r>
            <a:r>
              <a:rPr lang="en-IN" sz="1400" dirty="0"/>
              <a:t> products are actually losing money, total </a:t>
            </a:r>
            <a:r>
              <a:rPr lang="en-IN" sz="1400" b="1" dirty="0"/>
              <a:t>₹1.18L.</a:t>
            </a:r>
          </a:p>
          <a:p>
            <a:pPr lvl="0"/>
            <a:endParaRPr lang="en-IN" sz="1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So, focus on inventory and marketing on the best-performing products especially the top Beauty and Grocery items, while reviewing the loss-making ones.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particularly in Fashion, which has the most loss-makers despite also having several top performers for pricing, cost, or supplier fixes. Doing both should improve product-level profitability.</a:t>
            </a:r>
          </a:p>
          <a:p>
            <a:pPr lvl="0"/>
            <a:endParaRPr lang="en-IN" sz="1400" dirty="0"/>
          </a:p>
          <a:p>
            <a:pPr lvl="0"/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 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164592"/>
            <a:ext cx="19726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42412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u="sng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Margin Stability</a:t>
            </a:r>
            <a:endParaRPr lang="en-US" sz="2700" u="sng" dirty="0"/>
          </a:p>
        </p:txBody>
      </p:sp>
      <p:sp>
        <p:nvSpPr>
          <p:cNvPr id="9" name="Shape 7"/>
          <p:cNvSpPr/>
          <p:nvPr/>
        </p:nvSpPr>
        <p:spPr>
          <a:xfrm>
            <a:off x="457200" y="3132305"/>
            <a:ext cx="7845552" cy="2946549"/>
          </a:xfrm>
          <a:prstGeom prst="roundRect">
            <a:avLst>
              <a:gd name="adj" fmla="val 1758"/>
            </a:avLst>
          </a:prstGeom>
          <a:solidFill>
            <a:srgbClr val="E9F0F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268980"/>
            <a:ext cx="7205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u="sng" kern="0" spc="100" dirty="0">
                <a:solidFill>
                  <a:srgbClr val="144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00" u="sng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Analytics  | </a:t>
            </a:r>
            <a:r>
              <a:rPr lang="en-IN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Margin</a:t>
            </a: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Recommendations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3CE84C0-35A8-D112-9588-E3D5709BE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4399"/>
            <a:ext cx="5963056" cy="2000266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6" name="Shape 1">
            <a:extLst>
              <a:ext uri="{FF2B5EF4-FFF2-40B4-BE49-F238E27FC236}">
                <a16:creationId xmlns:a16="http://schemas.microsoft.com/office/drawing/2014/main" id="{0D0DB84B-D373-AF61-80A5-EF7CE9B3FA85}"/>
              </a:ext>
            </a:extLst>
          </p:cNvPr>
          <p:cNvSpPr/>
          <p:nvPr/>
        </p:nvSpPr>
        <p:spPr>
          <a:xfrm>
            <a:off x="9601200" y="1257300"/>
            <a:ext cx="1828800" cy="1783080"/>
          </a:xfrm>
          <a:prstGeom prst="rect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4C5871ED-3CD1-D4FE-10F7-E7E70A0BD9FA}"/>
              </a:ext>
            </a:extLst>
          </p:cNvPr>
          <p:cNvSpPr/>
          <p:nvPr/>
        </p:nvSpPr>
        <p:spPr>
          <a:xfrm>
            <a:off x="9601200" y="2788920"/>
            <a:ext cx="1828800" cy="502920"/>
          </a:xfrm>
          <a:prstGeom prst="ellipse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0BBF8E52-156C-49AF-6C1F-C83E4DFE41D8}"/>
              </a:ext>
            </a:extLst>
          </p:cNvPr>
          <p:cNvSpPr/>
          <p:nvPr/>
        </p:nvSpPr>
        <p:spPr>
          <a:xfrm>
            <a:off x="9601200" y="1005840"/>
            <a:ext cx="1828800" cy="502920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D36349CC-5290-2E8B-2E22-628F2E3ED4A7}"/>
              </a:ext>
            </a:extLst>
          </p:cNvPr>
          <p:cNvSpPr/>
          <p:nvPr/>
        </p:nvSpPr>
        <p:spPr>
          <a:xfrm>
            <a:off x="10104120" y="3737153"/>
            <a:ext cx="1280160" cy="1212494"/>
          </a:xfrm>
          <a:prstGeom prst="rect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1B7E5E20-A4B8-FD4E-3EC8-1479CE09EE17}"/>
              </a:ext>
            </a:extLst>
          </p:cNvPr>
          <p:cNvSpPr/>
          <p:nvPr/>
        </p:nvSpPr>
        <p:spPr>
          <a:xfrm>
            <a:off x="10104120" y="4778654"/>
            <a:ext cx="1280160" cy="341986"/>
          </a:xfrm>
          <a:prstGeom prst="ellipse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1C3B057D-D649-7E01-E109-B104A58B8942}"/>
              </a:ext>
            </a:extLst>
          </p:cNvPr>
          <p:cNvSpPr/>
          <p:nvPr/>
        </p:nvSpPr>
        <p:spPr>
          <a:xfrm>
            <a:off x="10104120" y="3566160"/>
            <a:ext cx="1280160" cy="341986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C7BD0F35-7AA4-F99B-C92A-DF9814CC8BF7}"/>
              </a:ext>
            </a:extLst>
          </p:cNvPr>
          <p:cNvSpPr/>
          <p:nvPr/>
        </p:nvSpPr>
        <p:spPr>
          <a:xfrm>
            <a:off x="822960" y="3589020"/>
            <a:ext cx="7205472" cy="2304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It </a:t>
            </a:r>
            <a:r>
              <a:rPr lang="en-US" sz="1400" dirty="0"/>
              <a:t>Fashion and Beauty have the highest variation in profit margins </a:t>
            </a:r>
            <a:r>
              <a:rPr lang="en-US" sz="1400" b="1" dirty="0"/>
              <a:t>59.61 and 59.29 </a:t>
            </a:r>
            <a:r>
              <a:rPr lang="en-US" sz="1400" dirty="0"/>
              <a:t>respectively These are the two least consistent categories, with the largest swings in profitability from order to order.</a:t>
            </a:r>
          </a:p>
          <a:p>
            <a:pPr lvl="0"/>
            <a:endParaRPr lang="en-IN" sz="1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Fashion is also the weakest performer, with the lowest average margin </a:t>
            </a:r>
            <a:r>
              <a:rPr lang="en-US" sz="1400" b="1" dirty="0"/>
              <a:t>(35.45%) </a:t>
            </a:r>
            <a:r>
              <a:rPr lang="en-US" sz="1400" dirty="0"/>
              <a:t>combined with the highest variation  the worst combination of unpredictable and thin. </a:t>
            </a:r>
          </a:p>
          <a:p>
            <a:pPr lvl="0"/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So, we need to review pricing and product costs in both categories to improve margin consistency, using Home the most stable category, </a:t>
            </a:r>
            <a:r>
              <a:rPr lang="en-US" sz="1400" b="1" dirty="0"/>
              <a:t>55.26</a:t>
            </a:r>
            <a:r>
              <a:rPr lang="en-US" sz="1400" dirty="0"/>
              <a:t> variation, </a:t>
            </a:r>
            <a:r>
              <a:rPr lang="en-US" sz="1400" b="1" dirty="0"/>
              <a:t>40.67% </a:t>
            </a:r>
            <a:r>
              <a:rPr lang="en-US" sz="1400" dirty="0"/>
              <a:t>average margin as the internal benchmark for what disciplined pricing looks like.</a:t>
            </a:r>
            <a:endParaRPr lang="en-IN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109728"/>
            <a:ext cx="17012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u="sng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Customers</a:t>
            </a:r>
            <a:endParaRPr lang="en-US" sz="2700" u="sng" dirty="0"/>
          </a:p>
        </p:txBody>
      </p:sp>
      <p:sp>
        <p:nvSpPr>
          <p:cNvPr id="9" name="Shape 7"/>
          <p:cNvSpPr/>
          <p:nvPr/>
        </p:nvSpPr>
        <p:spPr>
          <a:xfrm>
            <a:off x="502920" y="3095364"/>
            <a:ext cx="8600440" cy="3378588"/>
          </a:xfrm>
          <a:prstGeom prst="roundRect">
            <a:avLst>
              <a:gd name="adj" fmla="val 1758"/>
            </a:avLst>
          </a:prstGeom>
          <a:solidFill>
            <a:srgbClr val="E9F0F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108960"/>
            <a:ext cx="20077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u="sng" kern="0" spc="100" dirty="0">
                <a:solidFill>
                  <a:srgbClr val="144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00" u="sng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Analytics  | High - Risk Recommendations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F4D0AA87-E74A-12CA-77FB-BE5A98A84373}"/>
              </a:ext>
            </a:extLst>
          </p:cNvPr>
          <p:cNvSpPr/>
          <p:nvPr/>
        </p:nvSpPr>
        <p:spPr>
          <a:xfrm>
            <a:off x="9601200" y="1257300"/>
            <a:ext cx="1828800" cy="1783080"/>
          </a:xfrm>
          <a:prstGeom prst="rect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9FB33523-72D7-450E-D5EB-75D34F6A38D9}"/>
              </a:ext>
            </a:extLst>
          </p:cNvPr>
          <p:cNvSpPr/>
          <p:nvPr/>
        </p:nvSpPr>
        <p:spPr>
          <a:xfrm>
            <a:off x="9601200" y="2788920"/>
            <a:ext cx="1828800" cy="502920"/>
          </a:xfrm>
          <a:prstGeom prst="ellipse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4FF7BFFD-CF25-436B-87D7-8A0257A19901}"/>
              </a:ext>
            </a:extLst>
          </p:cNvPr>
          <p:cNvSpPr/>
          <p:nvPr/>
        </p:nvSpPr>
        <p:spPr>
          <a:xfrm>
            <a:off x="9601200" y="1005840"/>
            <a:ext cx="1828800" cy="502920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160F0747-4794-D7FD-EE76-704FA45150C7}"/>
              </a:ext>
            </a:extLst>
          </p:cNvPr>
          <p:cNvSpPr/>
          <p:nvPr/>
        </p:nvSpPr>
        <p:spPr>
          <a:xfrm>
            <a:off x="10104120" y="3737153"/>
            <a:ext cx="1280160" cy="1212494"/>
          </a:xfrm>
          <a:prstGeom prst="rect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5A613B31-B0BF-D859-67C9-9F6A212FF9A3}"/>
              </a:ext>
            </a:extLst>
          </p:cNvPr>
          <p:cNvSpPr/>
          <p:nvPr/>
        </p:nvSpPr>
        <p:spPr>
          <a:xfrm>
            <a:off x="10104120" y="4778654"/>
            <a:ext cx="1280160" cy="341986"/>
          </a:xfrm>
          <a:prstGeom prst="ellipse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A8CBE6E4-3586-06D2-A4A1-296E0DF59216}"/>
              </a:ext>
            </a:extLst>
          </p:cNvPr>
          <p:cNvSpPr/>
          <p:nvPr/>
        </p:nvSpPr>
        <p:spPr>
          <a:xfrm>
            <a:off x="10104120" y="3566160"/>
            <a:ext cx="1280160" cy="341986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5EA2ACD8-A583-5CDF-B52E-D3D9198E7E1C}"/>
              </a:ext>
            </a:extLst>
          </p:cNvPr>
          <p:cNvSpPr/>
          <p:nvPr/>
        </p:nvSpPr>
        <p:spPr>
          <a:xfrm>
            <a:off x="822960" y="3412543"/>
            <a:ext cx="8097520" cy="30085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From the analysis there are </a:t>
            </a:r>
            <a:r>
              <a:rPr lang="en-IN" sz="1400" b="1" dirty="0"/>
              <a:t>786 </a:t>
            </a:r>
            <a:r>
              <a:rPr lang="en-IN" sz="1400" dirty="0"/>
              <a:t>customers have a return rate more than twice the marketplace average and have placed at least </a:t>
            </a:r>
            <a:r>
              <a:rPr lang="en-IN" sz="1400" b="1" dirty="0"/>
              <a:t>2</a:t>
            </a:r>
            <a:r>
              <a:rPr lang="en-IN" sz="1400" dirty="0"/>
              <a:t> orders. This is a significant number, so high return behaviour needs closer investigation.</a:t>
            </a:r>
            <a:br>
              <a:rPr lang="en-IN" sz="1400" dirty="0"/>
            </a:br>
            <a:endParaRPr lang="en-IN" sz="1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Do not treat all </a:t>
            </a:r>
            <a:r>
              <a:rPr lang="en-IN" sz="1400" b="1" dirty="0"/>
              <a:t>786 </a:t>
            </a:r>
            <a:r>
              <a:rPr lang="en-IN" sz="1400" dirty="0"/>
              <a:t>customers as problem customers immediately. A high return rate can still be influenced by a customer's order volume, so customers with more orders and repeated returns should receive higher priority.</a:t>
            </a:r>
          </a:p>
          <a:p>
            <a:pPr lvl="0"/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Focus first on customers with multiple returns and higher order volumes. This will help identify customers showing a consistent return pattern.</a:t>
            </a:r>
          </a:p>
          <a:p>
            <a:pPr lvl="0"/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Analyse the return reasons for these </a:t>
            </a:r>
            <a:r>
              <a:rPr lang="en-IN" sz="1400" b="1" dirty="0"/>
              <a:t>786 </a:t>
            </a:r>
            <a:r>
              <a:rPr lang="en-IN" sz="1400" dirty="0"/>
              <a:t>customers to determine whether the returns are caused by customer behaviour or operational issues such as damaged products, wrong items, quality problems, or late delivery.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D99DD-1907-706C-D0AA-CE113CEE1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1" y="877944"/>
            <a:ext cx="4963160" cy="2162436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94882"/>
            <a:ext cx="25079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69202"/>
            <a:ext cx="539204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u="sng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Profitability Summary</a:t>
            </a:r>
            <a:endParaRPr lang="en-US" sz="2700" u="sng" dirty="0"/>
          </a:p>
        </p:txBody>
      </p:sp>
      <p:sp>
        <p:nvSpPr>
          <p:cNvPr id="9" name="Shape 7"/>
          <p:cNvSpPr/>
          <p:nvPr/>
        </p:nvSpPr>
        <p:spPr>
          <a:xfrm>
            <a:off x="502920" y="2345692"/>
            <a:ext cx="8549640" cy="3561332"/>
          </a:xfrm>
          <a:prstGeom prst="roundRect">
            <a:avLst>
              <a:gd name="adj" fmla="val 1758"/>
            </a:avLst>
          </a:prstGeom>
          <a:solidFill>
            <a:srgbClr val="E9F0F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642811"/>
            <a:ext cx="7205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u="sng" kern="0" spc="100" dirty="0">
                <a:solidFill>
                  <a:srgbClr val="144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00" u="sng" dirty="0"/>
          </a:p>
        </p:txBody>
      </p:sp>
      <p:sp>
        <p:nvSpPr>
          <p:cNvPr id="11" name="Text 9"/>
          <p:cNvSpPr/>
          <p:nvPr/>
        </p:nvSpPr>
        <p:spPr>
          <a:xfrm>
            <a:off x="822960" y="3227832"/>
            <a:ext cx="7205472" cy="2847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08000"/>
              </a:lnSpc>
              <a:spcAft>
                <a:spcPts val="1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400" dirty="0"/>
              <a:t>Our sales are strong</a:t>
            </a:r>
            <a:r>
              <a:rPr lang="en-IN" sz="1400" b="1" dirty="0"/>
              <a:t> (₹4.84 Cr), </a:t>
            </a:r>
            <a:r>
              <a:rPr lang="en-IN" sz="1400" dirty="0"/>
              <a:t>but</a:t>
            </a:r>
            <a:r>
              <a:rPr lang="en-IN" sz="1400" b="1" dirty="0"/>
              <a:t> discounts</a:t>
            </a:r>
            <a:r>
              <a:rPr lang="en-IN" sz="1400" dirty="0"/>
              <a:t>,</a:t>
            </a:r>
            <a:r>
              <a:rPr lang="en-IN" sz="1400" b="1" dirty="0"/>
              <a:t> returns</a:t>
            </a:r>
            <a:r>
              <a:rPr lang="en-IN" sz="1400" dirty="0"/>
              <a:t>,</a:t>
            </a:r>
            <a:r>
              <a:rPr lang="en-IN" sz="1400" b="1" dirty="0"/>
              <a:t> logistics costs</a:t>
            </a:r>
            <a:r>
              <a:rPr lang="en-IN" sz="1400" dirty="0"/>
              <a:t>,</a:t>
            </a:r>
            <a:r>
              <a:rPr lang="en-IN" sz="1400" b="1" dirty="0"/>
              <a:t> </a:t>
            </a:r>
            <a:r>
              <a:rPr lang="en-IN" sz="1400" dirty="0"/>
              <a:t>and </a:t>
            </a:r>
            <a:r>
              <a:rPr lang="en-IN" sz="1400" b="1" dirty="0"/>
              <a:t>payment fees </a:t>
            </a:r>
            <a:r>
              <a:rPr lang="en-IN" sz="1400" dirty="0"/>
              <a:t>together are </a:t>
            </a:r>
            <a:r>
              <a:rPr lang="en-IN" sz="1400" b="1" dirty="0"/>
              <a:t>₹89.70L — </a:t>
            </a:r>
            <a:r>
              <a:rPr lang="en-IN" sz="1400" dirty="0"/>
              <a:t>pulling our margin down from </a:t>
            </a:r>
            <a:r>
              <a:rPr lang="en-IN" sz="1400" b="1" dirty="0"/>
              <a:t>53.7% (gross) </a:t>
            </a:r>
            <a:r>
              <a:rPr lang="en-IN" sz="1400" dirty="0"/>
              <a:t>to just </a:t>
            </a:r>
            <a:r>
              <a:rPr lang="en-IN" sz="1400" b="1" dirty="0"/>
              <a:t>35.2% (net).</a:t>
            </a:r>
            <a:r>
              <a:rPr lang="en-IN" sz="1400" dirty="0"/>
              <a:t> </a:t>
            </a:r>
            <a:endParaRPr lang="en-US" sz="1400" dirty="0"/>
          </a:p>
          <a:p>
            <a:pPr marL="285750" indent="-285750">
              <a:lnSpc>
                <a:spcPct val="108000"/>
              </a:lnSpc>
              <a:spcAft>
                <a:spcPts val="1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400" dirty="0"/>
              <a:t>So, first prioritizing action in order of impact: </a:t>
            </a:r>
            <a:br>
              <a:rPr lang="en-IN" sz="1400" dirty="0"/>
            </a:br>
            <a:r>
              <a:rPr lang="en-IN" sz="1400" b="1" dirty="0"/>
              <a:t>discounts first (49.2% of total leakage, ₹44.16L).</a:t>
            </a:r>
            <a:endParaRPr lang="en-US" sz="1400" dirty="0"/>
          </a:p>
          <a:p>
            <a:pPr marL="285750" indent="-285750">
              <a:lnSpc>
                <a:spcPct val="108000"/>
              </a:lnSpc>
              <a:spcAft>
                <a:spcPts val="1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Then Logistics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(9.6%, ₹8.64L)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and Payment Fees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(9.4%, ₹8.46L) </a:t>
            </a:r>
            <a:r>
              <a:rPr lang="en-IN" sz="1400" dirty="0"/>
              <a:t>as secondary but still worthwhile areas to control. </a:t>
            </a:r>
            <a:endParaRPr lang="en-US" sz="1400" dirty="0"/>
          </a:p>
          <a:p>
            <a:pPr marL="285750" indent="-285750">
              <a:lnSpc>
                <a:spcPct val="108000"/>
              </a:lnSpc>
              <a:spcAft>
                <a:spcPts val="1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400" dirty="0"/>
              <a:t>Addressing these leakage points especially the top two is the clearest path to improving overall profitability.</a:t>
            </a:r>
          </a:p>
          <a:p>
            <a:pPr marL="285750" indent="-285750">
              <a:lnSpc>
                <a:spcPct val="108000"/>
              </a:lnSpc>
              <a:spcAft>
                <a:spcPts val="1300"/>
              </a:spcAft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Analytics  | Executive Profitability Recommendations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9BF2854B-C4D3-67B7-C8F0-176AB161706D}"/>
              </a:ext>
            </a:extLst>
          </p:cNvPr>
          <p:cNvSpPr/>
          <p:nvPr/>
        </p:nvSpPr>
        <p:spPr>
          <a:xfrm>
            <a:off x="9601200" y="1257300"/>
            <a:ext cx="1828800" cy="1783080"/>
          </a:xfrm>
          <a:prstGeom prst="rect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6819B530-0441-A088-71C4-EA2D7318DBFF}"/>
              </a:ext>
            </a:extLst>
          </p:cNvPr>
          <p:cNvSpPr/>
          <p:nvPr/>
        </p:nvSpPr>
        <p:spPr>
          <a:xfrm>
            <a:off x="9601200" y="2788920"/>
            <a:ext cx="1828800" cy="502920"/>
          </a:xfrm>
          <a:prstGeom prst="ellipse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7DE1A025-6A98-0588-1A9E-74AD8758018B}"/>
              </a:ext>
            </a:extLst>
          </p:cNvPr>
          <p:cNvSpPr/>
          <p:nvPr/>
        </p:nvSpPr>
        <p:spPr>
          <a:xfrm>
            <a:off x="9601200" y="1005840"/>
            <a:ext cx="1828800" cy="502920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3F4A43BE-AD25-5B13-7C89-C3CA17F40AF6}"/>
              </a:ext>
            </a:extLst>
          </p:cNvPr>
          <p:cNvSpPr/>
          <p:nvPr/>
        </p:nvSpPr>
        <p:spPr>
          <a:xfrm>
            <a:off x="10104120" y="3737153"/>
            <a:ext cx="1280160" cy="1212494"/>
          </a:xfrm>
          <a:prstGeom prst="rect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985500EE-6A3D-C767-C455-992C3FF77C2B}"/>
              </a:ext>
            </a:extLst>
          </p:cNvPr>
          <p:cNvSpPr/>
          <p:nvPr/>
        </p:nvSpPr>
        <p:spPr>
          <a:xfrm>
            <a:off x="10104120" y="4778654"/>
            <a:ext cx="1280160" cy="341986"/>
          </a:xfrm>
          <a:prstGeom prst="ellipse">
            <a:avLst/>
          </a:prstGeom>
          <a:solidFill>
            <a:srgbClr val="205295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A31D63E6-88B4-E479-B7D6-596843395670}"/>
              </a:ext>
            </a:extLst>
          </p:cNvPr>
          <p:cNvSpPr/>
          <p:nvPr/>
        </p:nvSpPr>
        <p:spPr>
          <a:xfrm>
            <a:off x="10104120" y="3566160"/>
            <a:ext cx="1280160" cy="341986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8D4BF61-F6C9-4937-E3CF-D6C87D797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1274954"/>
            <a:ext cx="7476758" cy="877231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40080" y="4572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sng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kumimoji="0" lang="en-US" sz="3400" b="0" i="0" u="sng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9281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7D3E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Sales are strong at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₹4.84 Cr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7D3E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but discounts, returns, logistics costs, and payment fees together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₹89.70L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7D3E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in leakage  pulling margin from a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53.7% gross margin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7D3E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down to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35.2% net margin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7D3E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 Discounts (49.2%) and returns (31.7%) together drive 81% of all leakage fixing these two first should be fixed, while keeping logistics (9.6%) and payment fees (9.4%) in checking is the clearest path to stronger, more predictable profitability.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4251960"/>
            <a:ext cx="2368296" cy="1280160"/>
          </a:xfrm>
          <a:prstGeom prst="rect">
            <a:avLst/>
          </a:prstGeom>
          <a:solidFill>
            <a:srgbClr val="144272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4416552"/>
            <a:ext cx="2368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₹4.84 Cr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5093208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AFC2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64408" y="4251960"/>
            <a:ext cx="2368296" cy="1280160"/>
          </a:xfrm>
          <a:prstGeom prst="rect">
            <a:avLst/>
          </a:prstGeom>
          <a:solidFill>
            <a:srgbClr val="144272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64408" y="4416552"/>
            <a:ext cx="2368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₹89.70L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55848" y="5093208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AFC2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TOTAL LEAKAGE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888736" y="4251960"/>
            <a:ext cx="2368296" cy="1280160"/>
          </a:xfrm>
          <a:prstGeom prst="rect">
            <a:avLst/>
          </a:prstGeom>
          <a:solidFill>
            <a:srgbClr val="144272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88736" y="4416552"/>
            <a:ext cx="2368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53.7% → 35.2%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80176" y="5093208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AFC2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GROSS → NET MARGIN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513064" y="4251960"/>
            <a:ext cx="2368296" cy="1280160"/>
          </a:xfrm>
          <a:prstGeom prst="rect">
            <a:avLst/>
          </a:prstGeom>
          <a:solidFill>
            <a:srgbClr val="144272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13064" y="4416552"/>
            <a:ext cx="2368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49.2% + 31.7%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04504" y="5093208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AFC2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DISCOUNTS + RETURNS SHARE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881360" y="603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5B8F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C4130472-A3C4-83B8-4208-70F97592CB55}"/>
              </a:ext>
            </a:extLst>
          </p:cNvPr>
          <p:cNvSpPr/>
          <p:nvPr/>
        </p:nvSpPr>
        <p:spPr>
          <a:xfrm>
            <a:off x="10104120" y="930808"/>
            <a:ext cx="1371600" cy="1319479"/>
          </a:xfrm>
          <a:prstGeom prst="rect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D693D27E-9EB3-6F07-E915-F5A37052E322}"/>
              </a:ext>
            </a:extLst>
          </p:cNvPr>
          <p:cNvSpPr/>
          <p:nvPr/>
        </p:nvSpPr>
        <p:spPr>
          <a:xfrm>
            <a:off x="10104120" y="2064207"/>
            <a:ext cx="1371600" cy="372161"/>
          </a:xfrm>
          <a:prstGeom prst="ellipse">
            <a:avLst/>
          </a:prstGeom>
          <a:solidFill>
            <a:srgbClr val="144272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E0C7E17B-6799-7EF7-02BB-F4DD5428292F}"/>
              </a:ext>
            </a:extLst>
          </p:cNvPr>
          <p:cNvSpPr/>
          <p:nvPr/>
        </p:nvSpPr>
        <p:spPr>
          <a:xfrm>
            <a:off x="10104120" y="744728"/>
            <a:ext cx="1371600" cy="372161"/>
          </a:xfrm>
          <a:prstGeom prst="ellipse">
            <a:avLst/>
          </a:prstGeom>
          <a:solidFill>
            <a:srgbClr val="2C74B3"/>
          </a:solidFill>
          <a:ln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2254</Words>
  <Application>Microsoft Office PowerPoint</Application>
  <PresentationFormat>Widescreen</PresentationFormat>
  <Paragraphs>225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Hariharan Reddy R</cp:lastModifiedBy>
  <cp:revision>8</cp:revision>
  <dcterms:created xsi:type="dcterms:W3CDTF">2026-08-14T10:44:41Z</dcterms:created>
  <dcterms:modified xsi:type="dcterms:W3CDTF">2026-08-16T07:47:40Z</dcterms:modified>
</cp:coreProperties>
</file>